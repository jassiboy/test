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3612" r:id="rId2"/>
    <p:sldId id="2147483613" r:id="rId3"/>
    <p:sldId id="2147483615" r:id="rId4"/>
    <p:sldId id="214748361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CA474-7FF6-4AFF-9FFC-61426FC23A45}" v="10" dt="2026-07-29T10:04:21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Jaiswal" userId="36bb2951-798e-4f0d-9613-eb629cc490d9" providerId="ADAL" clId="{C114CA1C-EC8F-48A1-8D5F-3FB3180028A2}"/>
    <pc:docChg chg="delSld">
      <pc:chgData name="Shubham Jaiswal" userId="36bb2951-798e-4f0d-9613-eb629cc490d9" providerId="ADAL" clId="{C114CA1C-EC8F-48A1-8D5F-3FB3180028A2}" dt="2026-07-29T10:17:00.782" v="0" actId="47"/>
      <pc:docMkLst>
        <pc:docMk/>
      </pc:docMkLst>
      <pc:sldChg chg="del">
        <pc:chgData name="Shubham Jaiswal" userId="36bb2951-798e-4f0d-9613-eb629cc490d9" providerId="ADAL" clId="{C114CA1C-EC8F-48A1-8D5F-3FB3180028A2}" dt="2026-07-29T10:17:00.782" v="0" actId="47"/>
        <pc:sldMkLst>
          <pc:docMk/>
          <pc:sldMk cId="2293117516" sldId="214748361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79C6-1BD0-11C8-AF5E-279A24064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8FB89-6D84-46D9-5156-815E415C8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F43F9-BB0D-8FD5-5C4C-B4CF7953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84C95-CE56-B964-E7BF-B6C4F55B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59503-4264-F139-2F69-68A77770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06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D463-73A1-D193-B3C0-699AAEB8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CFD8C-64FF-390D-E249-8828C0D23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A47ED-8B51-92B0-EFCB-867E552BA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53E0E-AA57-BCEC-440E-53E025FD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6BD43-86BD-A983-5497-CCC8F71F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10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48C9-5819-C52F-006F-8CA2C8E4C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62841-7DA3-29FA-C762-69D1F5DE1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EAF5E-A2F1-5EA9-58E4-0B96267F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6B37C-A3EC-C769-50D8-1F0BFC66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39DE8-FBDA-57D4-9CFE-E03BC0BF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57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A6FA-24D6-F7AC-104A-955541E5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0ED7-500D-9EA8-1373-E6D26B4F2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E7E9D-C8BE-D697-4084-F9F0827BE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F2AA5-0AEE-626F-5BF3-89C8FCFBA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0373C-ABB0-2E24-8A17-6254FFBA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B1DEA-8E38-41B7-51C2-3E636470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65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38139-7CB3-6BBB-6456-AD4737F77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85846-2F75-546A-ADF4-BA65F3CBF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44C72-7E03-0DE6-C84B-B697980BE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58909-9E9A-B668-5D6B-BAFBFEB78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6E2BA-7323-8BC5-1BD1-678DF2F29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CCB6B-AF2C-8881-9384-44F4E9A78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5A1D8-6ACA-8EC8-B2B6-429D22CE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3911E7-96E7-DB4C-C3FE-93C8C7A2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09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A97A-DF38-1637-6905-2D3C5875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6A07B-74E6-6E77-E713-C1B14631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A3AA6-634A-1325-01F6-F812B85C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6FF30-BEDC-6A88-8BAA-D07D912C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23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8C322-FD3D-4981-93B8-36ECD3F5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F6FB0-8BEB-EE46-227E-2AFEC17FD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E5B26-D084-B5F3-E056-CA9512F5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60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5AF3-FC6D-5970-34AD-0FC316DC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00FB-6BA2-CB9C-D567-4CC3AB262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654E5-DD5C-1863-BB1F-E9BCEB516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F12A0-423B-E928-3A2E-B679FAC95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3B788-3BFF-B23E-4DFA-B4D2D705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2FD3F-25E9-A51D-6ACF-4A2122C5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23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032DA-0CD8-572C-F030-B599C338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88F5DB-9910-4358-1224-0C9781B09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E4471-0D90-738E-AA2E-387CAB919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1FCC3-140D-23B0-B883-DE2A1769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F6859-6CC9-AF81-E1F2-75FD2E97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5D476-E4F8-02E5-2566-549D8F1A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96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9114-2C69-5E24-2B1F-07D11890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4B673-AB3F-48FF-E5DB-0F36A65C7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3A252-3580-187E-1F3C-6918D5CE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B250A-7D65-3287-2016-63FBBD0F8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1798-A9B1-09A5-2B1A-B55ECE6C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4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027CC-E037-98F5-3ACB-1D7CE4925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DA294-0F63-2268-3F18-099999AEF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E2B59-B22B-934B-7190-EF4F133E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78419-7E3C-236E-0AF5-545444F1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561DB-09D2-492F-7321-C1F92FC2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99E83-E67B-FC59-22DC-0AE5F877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B4F69-8BB5-162E-20E3-AAA3F379E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7826F-E9A7-2119-E2E0-6DED9BD93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0FAC8-E90C-4E7C-B476-31AB7DD50C04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4AA1B-FDDC-01CE-63C2-CD2DD699E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932A0-0E6C-D1DF-57E1-2879DF756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0D6EE4-A569-4625-8DEC-6259EF4ABD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89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284E-EA0D-A1BB-18B4-FA973D19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2">
            <a:extLst>
              <a:ext uri="{FF2B5EF4-FFF2-40B4-BE49-F238E27FC236}">
                <a16:creationId xmlns:a16="http://schemas.microsoft.com/office/drawing/2014/main" id="{F3E190FC-E7CB-CCC8-BFCC-E9E351EBD4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2949"/>
          </a:xfrm>
          <a:prstGeom prst="rect">
            <a:avLst/>
          </a:prstGeom>
          <a:gradFill>
            <a:gsLst>
              <a:gs pos="0">
                <a:srgbClr val="4D148C">
                  <a:alpha val="90000"/>
                </a:srgbClr>
              </a:gs>
              <a:gs pos="33000">
                <a:srgbClr val="7D22C3">
                  <a:lumMod val="100000"/>
                  <a:alpha val="90000"/>
                </a:srgbClr>
              </a:gs>
              <a:gs pos="100000">
                <a:srgbClr val="FF6600">
                  <a:alpha val="90000"/>
                </a:srgbClr>
              </a:gs>
            </a:gsLst>
            <a:lin ang="10800000" scaled="1"/>
          </a:gradFill>
        </p:spPr>
        <p:txBody>
          <a:bodyPr vert="horz" lIns="576072" tIns="0" rIns="5486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800" b="0" i="0" kern="1200">
                <a:solidFill>
                  <a:schemeClr val="bg1"/>
                </a:solidFill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defRPr>
            </a:lvl1pPr>
          </a:lstStyle>
          <a:p>
            <a:pPr>
              <a:defRPr/>
            </a:pPr>
            <a:r>
              <a:rPr lang="en-US" sz="2400" b="1">
                <a:solidFill>
                  <a:sysClr val="window" lastClr="FFFFFF"/>
                </a:solidFill>
                <a:latin typeface="FedEx Sans"/>
                <a:ea typeface="FedEx Sans" panose="020B0603020203020204" pitchFamily="34" charset="0"/>
                <a:cs typeface="FedEx Sans" panose="020B0603020203020204" pitchFamily="34" charset="0"/>
              </a:rPr>
              <a:t>MKVW CDL Cloud Migration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B099AB-A3C8-1752-B860-F9C4576D3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42" y="794098"/>
            <a:ext cx="8968644" cy="595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4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F9384-75F1-02E4-8F05-6E2B4E784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2">
            <a:extLst>
              <a:ext uri="{FF2B5EF4-FFF2-40B4-BE49-F238E27FC236}">
                <a16:creationId xmlns:a16="http://schemas.microsoft.com/office/drawing/2014/main" id="{14D42A95-4253-DB02-CA3E-0ECA4E2A35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2949"/>
          </a:xfrm>
          <a:prstGeom prst="rect">
            <a:avLst/>
          </a:prstGeom>
          <a:gradFill>
            <a:gsLst>
              <a:gs pos="0">
                <a:srgbClr val="4D148C">
                  <a:alpha val="90000"/>
                </a:srgbClr>
              </a:gs>
              <a:gs pos="33000">
                <a:srgbClr val="7D22C3">
                  <a:lumMod val="100000"/>
                  <a:alpha val="90000"/>
                </a:srgbClr>
              </a:gs>
              <a:gs pos="100000">
                <a:srgbClr val="FF6600">
                  <a:alpha val="90000"/>
                </a:srgbClr>
              </a:gs>
            </a:gsLst>
            <a:lin ang="10800000" scaled="1"/>
          </a:gradFill>
        </p:spPr>
        <p:txBody>
          <a:bodyPr vert="horz" lIns="576072" tIns="0" rIns="5486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800" b="0" i="0" kern="1200">
                <a:solidFill>
                  <a:schemeClr val="bg1"/>
                </a:solidFill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defRPr>
            </a:lvl1pPr>
          </a:lstStyle>
          <a:p>
            <a:pPr>
              <a:defRPr/>
            </a:pPr>
            <a:r>
              <a:rPr lang="en-US" sz="2400" b="1">
                <a:solidFill>
                  <a:sysClr val="window" lastClr="FFFFFF"/>
                </a:solidFill>
                <a:latin typeface="FedEx Sans"/>
                <a:ea typeface="FedEx Sans" panose="020B0603020203020204" pitchFamily="34" charset="0"/>
                <a:cs typeface="FedEx Sans" panose="020B0603020203020204" pitchFamily="34" charset="0"/>
              </a:rPr>
              <a:t>MKVW CDL Cloud Migration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C15E6-5E6D-E8F4-004B-9ED696A811D8}"/>
              </a:ext>
            </a:extLst>
          </p:cNvPr>
          <p:cNvSpPr txBox="1"/>
          <p:nvPr/>
        </p:nvSpPr>
        <p:spPr>
          <a:xfrm>
            <a:off x="166078" y="713154"/>
            <a:ext cx="1175238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Feature added:</a:t>
            </a:r>
            <a:br>
              <a:rPr lang="en-US" b="1" dirty="0"/>
            </a:br>
            <a:r>
              <a:rPr lang="en-US" b="1" dirty="0"/>
              <a:t>A metadata driven ETL framework where config _table drives the whole ETL.</a:t>
            </a:r>
            <a:br>
              <a:rPr lang="en-US" b="1" dirty="0"/>
            </a:br>
            <a:endParaRPr lang="en-US" dirty="0"/>
          </a:p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64DB42-01B0-8C63-9CD0-2E59DAA95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621127"/>
              </p:ext>
            </p:extLst>
          </p:nvPr>
        </p:nvGraphicFramePr>
        <p:xfrm>
          <a:off x="273541" y="1633865"/>
          <a:ext cx="5933290" cy="79063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2985">
                  <a:extLst>
                    <a:ext uri="{9D8B030D-6E8A-4147-A177-3AD203B41FA5}">
                      <a16:colId xmlns:a16="http://schemas.microsoft.com/office/drawing/2014/main" val="1368685725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802593249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1707360154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2245497891"/>
                    </a:ext>
                  </a:extLst>
                </a:gridCol>
                <a:gridCol w="695989">
                  <a:extLst>
                    <a:ext uri="{9D8B030D-6E8A-4147-A177-3AD203B41FA5}">
                      <a16:colId xmlns:a16="http://schemas.microsoft.com/office/drawing/2014/main" val="1459070778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3225875658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1838389696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3957619021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917806000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567853997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4038204860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618352603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2837876744"/>
                    </a:ext>
                  </a:extLst>
                </a:gridCol>
                <a:gridCol w="371193">
                  <a:extLst>
                    <a:ext uri="{9D8B030D-6E8A-4147-A177-3AD203B41FA5}">
                      <a16:colId xmlns:a16="http://schemas.microsoft.com/office/drawing/2014/main" val="600149286"/>
                    </a:ext>
                  </a:extLst>
                </a:gridCol>
              </a:tblGrid>
              <a:tr h="5048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table_id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opco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source_table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target_system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target_table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load_process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ingestion_mode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incremental_cutoff_day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load_frequency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watermark_column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last_watermark_value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partition_col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dq_rules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dq_status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extLst>
                  <a:ext uri="{0D108BD9-81ED-4DB2-BD59-A6C34878D82A}">
                    <a16:rowId xmlns:a16="http://schemas.microsoft.com/office/drawing/2014/main" val="199480309"/>
                  </a:ext>
                </a:extLst>
              </a:tr>
              <a:tr h="2003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fxg_fac_enti_bill_dly_hist_sp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ground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ds_fcst_de_prod.fxg_acct_bill_dly_hist,ds_fcst_de_prod.cust_se_seg_map,ds_fcst_de_prod.cust_ce_seg_map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delta_lake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f6180854.fxg_fac_enti_bill_dly_hist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 err="1">
                          <a:effectLst/>
                        </a:rPr>
                        <a:t>load_fxg_fac_enti_bill_dly_hist_sp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incremental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daily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ratemnth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null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ratemnth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null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TRUE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extLst>
                  <a:ext uri="{0D108BD9-81ED-4DB2-BD59-A6C34878D82A}">
                    <a16:rowId xmlns:a16="http://schemas.microsoft.com/office/drawing/2014/main" val="2943936663"/>
                  </a:ext>
                </a:extLst>
              </a:tr>
              <a:tr h="2003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fxg_fac_enti_bill_dly_hist_bill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ground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ds_fcst_de_prod.fxg_acct_bill_dly_hist,ds_fcst_de_prod.cust_se_seg_map,ds_fcst_de_prod.cust_ce_seg_map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delta_lake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f6180854.fxg_fac_enti_bill_dly_hist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load_fxg_fac_enti_bill_dly_hist_bill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incremental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weekly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ratemnth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null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ratemnth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null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TRUE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99" marR="9099" marT="9099" marB="0" anchor="b"/>
                </a:tc>
                <a:extLst>
                  <a:ext uri="{0D108BD9-81ED-4DB2-BD59-A6C34878D82A}">
                    <a16:rowId xmlns:a16="http://schemas.microsoft.com/office/drawing/2014/main" val="20282417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A5A3A2-5C7B-DBF4-B6DC-3F2F2188FFE6}"/>
              </a:ext>
            </a:extLst>
          </p:cNvPr>
          <p:cNvSpPr txBox="1"/>
          <p:nvPr/>
        </p:nvSpPr>
        <p:spPr>
          <a:xfrm>
            <a:off x="8354291" y="1633865"/>
            <a:ext cx="3214254" cy="923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Feature:-</a:t>
            </a:r>
          </a:p>
          <a:p>
            <a:r>
              <a:rPr lang="en-IN" dirty="0" err="1"/>
              <a:t>table_id</a:t>
            </a:r>
            <a:r>
              <a:rPr lang="en-IN" dirty="0"/>
              <a:t> is generated with combination of </a:t>
            </a:r>
            <a:r>
              <a:rPr lang="en-IN" dirty="0" err="1"/>
              <a:t>target_table</a:t>
            </a:r>
            <a:r>
              <a:rPr lang="en-IN" dirty="0"/>
              <a:t> and it's load process, it basically help to distinct process if it is loading up to same target table		</a:t>
            </a:r>
          </a:p>
          <a:p>
            <a:r>
              <a:rPr lang="en-IN" dirty="0" err="1"/>
              <a:t>source_tables</a:t>
            </a:r>
            <a:r>
              <a:rPr lang="en-IN" dirty="0"/>
              <a:t> = all source table info					</a:t>
            </a:r>
          </a:p>
          <a:p>
            <a:r>
              <a:rPr lang="en-IN" dirty="0" err="1"/>
              <a:t>incremental_cutoff_day</a:t>
            </a:r>
            <a:r>
              <a:rPr lang="en-IN" dirty="0"/>
              <a:t>:- so currently we are following 9 </a:t>
            </a:r>
            <a:r>
              <a:rPr lang="en-IN" dirty="0" err="1"/>
              <a:t>th</a:t>
            </a:r>
            <a:r>
              <a:rPr lang="en-IN" dirty="0"/>
              <a:t> of the month to do the truncate and load in incremental process, but it </a:t>
            </a:r>
            <a:r>
              <a:rPr lang="en-IN" dirty="0" err="1"/>
              <a:t>flexiable</a:t>
            </a:r>
            <a:r>
              <a:rPr lang="en-IN" dirty="0"/>
              <a:t> in nature and can be </a:t>
            </a:r>
            <a:r>
              <a:rPr lang="en-IN" dirty="0" err="1"/>
              <a:t>chnages</a:t>
            </a:r>
            <a:r>
              <a:rPr lang="en-IN" dirty="0"/>
              <a:t> for different table depend on the need.		</a:t>
            </a:r>
          </a:p>
          <a:p>
            <a:r>
              <a:rPr lang="en-IN" dirty="0"/>
              <a:t>watermark column:- </a:t>
            </a:r>
            <a:r>
              <a:rPr lang="en-IN" dirty="0" err="1"/>
              <a:t>watercolumn</a:t>
            </a:r>
            <a:r>
              <a:rPr lang="en-IN" dirty="0"/>
              <a:t> is good to have for incremental process, for </a:t>
            </a:r>
            <a:r>
              <a:rPr lang="en-IN" dirty="0" err="1"/>
              <a:t>futture</a:t>
            </a:r>
            <a:r>
              <a:rPr lang="en-IN" dirty="0"/>
              <a:t> </a:t>
            </a:r>
            <a:r>
              <a:rPr lang="en-IN" dirty="0" err="1"/>
              <a:t>nedd</a:t>
            </a:r>
            <a:r>
              <a:rPr lang="en-IN" dirty="0"/>
              <a:t>			</a:t>
            </a:r>
          </a:p>
          <a:p>
            <a:r>
              <a:rPr lang="en-IN" dirty="0"/>
              <a:t>DQ Rule:- A multiple DQ rule can be set [{"</a:t>
            </a:r>
            <a:r>
              <a:rPr lang="en-IN" dirty="0" err="1"/>
              <a:t>dq_rule</a:t>
            </a:r>
            <a:r>
              <a:rPr lang="en-IN" dirty="0"/>
              <a:t>": "</a:t>
            </a:r>
            <a:r>
              <a:rPr lang="en-IN" dirty="0" err="1"/>
              <a:t>dq_net_rev</a:t>
            </a:r>
            <a:r>
              <a:rPr lang="en-IN" dirty="0"/>
              <a:t>", "</a:t>
            </a:r>
            <a:r>
              <a:rPr lang="en-IN" dirty="0" err="1"/>
              <a:t>error_threshold_pct</a:t>
            </a:r>
            <a:r>
              <a:rPr lang="en-IN" dirty="0"/>
              <a:t>": 0.0}] so that whenever data I </a:t>
            </a:r>
            <a:r>
              <a:rPr lang="en-IN" dirty="0" err="1"/>
              <a:t>sloaded</a:t>
            </a:r>
            <a:r>
              <a:rPr lang="en-IN" dirty="0"/>
              <a:t> from source it can </a:t>
            </a:r>
            <a:r>
              <a:rPr lang="en-IN" dirty="0" err="1"/>
              <a:t>validateed</a:t>
            </a:r>
            <a:r>
              <a:rPr lang="en-IN" dirty="0"/>
              <a:t> for each</a:t>
            </a:r>
          </a:p>
          <a:p>
            <a:r>
              <a:rPr lang="en-IN" dirty="0"/>
              <a:t>DQ-</a:t>
            </a:r>
            <a:r>
              <a:rPr lang="en-IN" dirty="0" err="1"/>
              <a:t>sttus</a:t>
            </a:r>
            <a:r>
              <a:rPr lang="en-IN" dirty="0"/>
              <a:t>:-  for tuning it on//off as per the need</a:t>
            </a:r>
          </a:p>
        </p:txBody>
      </p:sp>
    </p:spTree>
    <p:extLst>
      <p:ext uri="{BB962C8B-B14F-4D97-AF65-F5344CB8AC3E}">
        <p14:creationId xmlns:p14="http://schemas.microsoft.com/office/powerpoint/2010/main" val="2282258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D268D-0444-DE5A-5A2C-06DDC332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2">
            <a:extLst>
              <a:ext uri="{FF2B5EF4-FFF2-40B4-BE49-F238E27FC236}">
                <a16:creationId xmlns:a16="http://schemas.microsoft.com/office/drawing/2014/main" id="{F1A79E45-F5E4-2520-144C-FB9D7CC5FF7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2949"/>
          </a:xfrm>
          <a:prstGeom prst="rect">
            <a:avLst/>
          </a:prstGeom>
          <a:gradFill>
            <a:gsLst>
              <a:gs pos="0">
                <a:srgbClr val="4D148C">
                  <a:alpha val="90000"/>
                </a:srgbClr>
              </a:gs>
              <a:gs pos="33000">
                <a:srgbClr val="7D22C3">
                  <a:lumMod val="100000"/>
                  <a:alpha val="90000"/>
                </a:srgbClr>
              </a:gs>
              <a:gs pos="100000">
                <a:srgbClr val="FF6600">
                  <a:alpha val="90000"/>
                </a:srgbClr>
              </a:gs>
            </a:gsLst>
            <a:lin ang="10800000" scaled="1"/>
          </a:gradFill>
        </p:spPr>
        <p:txBody>
          <a:bodyPr vert="horz" lIns="576072" tIns="0" rIns="5486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800" b="0" i="0" kern="1200">
                <a:solidFill>
                  <a:schemeClr val="bg1"/>
                </a:solidFill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defRPr>
            </a:lvl1pPr>
          </a:lstStyle>
          <a:p>
            <a:pPr>
              <a:defRPr/>
            </a:pPr>
            <a:r>
              <a:rPr lang="en-US" sz="2400" b="1">
                <a:solidFill>
                  <a:sysClr val="window" lastClr="FFFFFF"/>
                </a:solidFill>
                <a:latin typeface="FedEx Sans"/>
                <a:ea typeface="FedEx Sans" panose="020B0603020203020204" pitchFamily="34" charset="0"/>
                <a:cs typeface="FedEx Sans" panose="020B0603020203020204" pitchFamily="34" charset="0"/>
              </a:rPr>
              <a:t>MKVW CDL Cloud Migration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094318-4FF1-341F-3121-E0183C0B2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653111"/>
              </p:ext>
            </p:extLst>
          </p:nvPr>
        </p:nvGraphicFramePr>
        <p:xfrm>
          <a:off x="526473" y="955964"/>
          <a:ext cx="11055925" cy="19165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4641">
                  <a:extLst>
                    <a:ext uri="{9D8B030D-6E8A-4147-A177-3AD203B41FA5}">
                      <a16:colId xmlns:a16="http://schemas.microsoft.com/office/drawing/2014/main" val="3282320046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2558361159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4119893458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4055398311"/>
                    </a:ext>
                  </a:extLst>
                </a:gridCol>
                <a:gridCol w="901904">
                  <a:extLst>
                    <a:ext uri="{9D8B030D-6E8A-4147-A177-3AD203B41FA5}">
                      <a16:colId xmlns:a16="http://schemas.microsoft.com/office/drawing/2014/main" val="510699393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2041111941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1898804676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1568081852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2018716947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517738791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3656770838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3534802927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3162617376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137957357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2413165803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16549152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931005859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3703564160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2512716897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1926436944"/>
                    </a:ext>
                  </a:extLst>
                </a:gridCol>
                <a:gridCol w="481020">
                  <a:extLst>
                    <a:ext uri="{9D8B030D-6E8A-4147-A177-3AD203B41FA5}">
                      <a16:colId xmlns:a16="http://schemas.microsoft.com/office/drawing/2014/main" val="170545519"/>
                    </a:ext>
                  </a:extLst>
                </a:gridCol>
              </a:tblGrid>
              <a:tr h="313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run_batch_id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log_time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opco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dataset_layer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table_name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table_id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load_process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mode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load_mnth_start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load_mnth_end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status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message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attempt_number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watermark_start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watermark_end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started_at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completed_at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duration_minutes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rows_written</a:t>
                      </a:r>
                      <a:endParaRPr lang="en-IN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dq_result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execution_summary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extLst>
                  <a:ext uri="{0D108BD9-81ED-4DB2-BD59-A6C34878D82A}">
                    <a16:rowId xmlns:a16="http://schemas.microsoft.com/office/drawing/2014/main" val="2447055641"/>
                  </a:ext>
                </a:extLst>
              </a:tr>
              <a:tr h="942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BATCH_None_20260728_132106_728FA6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2026-07-28T13:40:26.359+00:00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ground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facility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f6180854.fxg_fac_enti_bill_dly_hist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fxg_fac_enti_bill_dly_hist_sp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load_fxg_fac_enti_bill_dly_hist_sp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backfill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202501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202503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SUCCESS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Completed. Ingested: 202501, 202502, 202503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1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-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-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2026-07-28T13:21:08.510+00:00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2026-07-28T13:40:26.358+00:00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19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48623344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SKIPPED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{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"month_details": [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{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"month": "202501",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"dq_status": "SKIPPED",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"Loaded": true,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"rows_written": 16413339,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"message": "Either DQ rules not assigned or DQ status is inactive"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},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{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"month": "202502",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"dq_status": "SKIPPED",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"Loaded": true,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"rows_written": 14860042,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"message": "Either DQ rules not assigned or DQ status is inactive"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},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{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"month": "202503",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"dq_status": "SKIPPED",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"Loaded": true,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"rows_written": 17349963,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  "message": "Either DQ rules not assigned or DQ status is inactive"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  }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  ]</a:t>
                      </a:r>
                      <a:br>
                        <a:rPr lang="en-IN" sz="100" u="none" strike="noStrike">
                          <a:effectLst/>
                        </a:rPr>
                      </a:br>
                      <a:br>
                        <a:rPr lang="en-IN" sz="100" u="none" strike="noStrike">
                          <a:effectLst/>
                        </a:rPr>
                      </a:br>
                      <a:r>
                        <a:rPr lang="en-IN" sz="100" u="none" strike="noStrike">
                          <a:effectLst/>
                        </a:rPr>
                        <a:t>}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extLst>
                  <a:ext uri="{0D108BD9-81ED-4DB2-BD59-A6C34878D82A}">
                    <a16:rowId xmlns:a16="http://schemas.microsoft.com/office/drawing/2014/main" val="3174780696"/>
                  </a:ext>
                </a:extLst>
              </a:tr>
              <a:tr h="942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BATCH_None_20260728_132106_728FA6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2026-07-28T13:40:09.180+00:00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ground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facility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f6180854.fxg_fac_enti_bill_dly_hist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fxg_fac_enti_bill_dly_hist_bill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load_fxg_fac_enti_bill_dly_hist_bill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backfill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202501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202503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SUCCESS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Completed. Ingested: 202501, 202502, 202503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1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-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-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2026-07-28T13:21:08.525+00:00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2026-07-28T13:40:09.180+00:00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19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2.99E+08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>
                          <a:effectLst/>
                        </a:rPr>
                        <a:t>SKIPPED</a:t>
                      </a:r>
                      <a:endParaRPr lang="en-IN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" u="none" strike="noStrike" dirty="0">
                          <a:effectLst/>
                        </a:rPr>
                        <a:t>{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"</a:t>
                      </a:r>
                      <a:r>
                        <a:rPr lang="en-IN" sz="100" u="none" strike="noStrike" dirty="0" err="1">
                          <a:effectLst/>
                        </a:rPr>
                        <a:t>month_details</a:t>
                      </a:r>
                      <a:r>
                        <a:rPr lang="en-IN" sz="100" u="none" strike="noStrike" dirty="0">
                          <a:effectLst/>
                        </a:rPr>
                        <a:t>": [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{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"month": "202501",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</a:t>
                      </a:r>
                      <a:r>
                        <a:rPr lang="en-IN" sz="100" u="none" strike="noStrike" dirty="0" err="1">
                          <a:effectLst/>
                        </a:rPr>
                        <a:t>dq_status</a:t>
                      </a:r>
                      <a:r>
                        <a:rPr lang="en-IN" sz="100" u="none" strike="noStrike" dirty="0">
                          <a:effectLst/>
                        </a:rPr>
                        <a:t>": "SKIPPED",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"Loaded": true,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</a:t>
                      </a:r>
                      <a:r>
                        <a:rPr lang="en-IN" sz="100" u="none" strike="noStrike" dirty="0" err="1">
                          <a:effectLst/>
                        </a:rPr>
                        <a:t>rows_written</a:t>
                      </a:r>
                      <a:r>
                        <a:rPr lang="en-IN" sz="100" u="none" strike="noStrike" dirty="0">
                          <a:effectLst/>
                        </a:rPr>
                        <a:t>": 88809987,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"message": "Either DQ rules not assigned or DQ status is inactive"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},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{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"month": "202502",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</a:t>
                      </a:r>
                      <a:r>
                        <a:rPr lang="en-IN" sz="100" u="none" strike="noStrike" dirty="0" err="1">
                          <a:effectLst/>
                        </a:rPr>
                        <a:t>dq_status</a:t>
                      </a:r>
                      <a:r>
                        <a:rPr lang="en-IN" sz="100" u="none" strike="noStrike" dirty="0">
                          <a:effectLst/>
                        </a:rPr>
                        <a:t>": "SKIPPED",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"Loaded": true,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</a:t>
                      </a:r>
                      <a:r>
                        <a:rPr lang="en-IN" sz="100" u="none" strike="noStrike" dirty="0" err="1">
                          <a:effectLst/>
                        </a:rPr>
                        <a:t>rows_written</a:t>
                      </a:r>
                      <a:r>
                        <a:rPr lang="en-IN" sz="100" u="none" strike="noStrike" dirty="0">
                          <a:effectLst/>
                        </a:rPr>
                        <a:t>": 115576505,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"message": "Either DQ rules not assigned or DQ status is inactive"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},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{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"month": "202503",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</a:t>
                      </a:r>
                      <a:r>
                        <a:rPr lang="en-IN" sz="100" u="none" strike="noStrike" dirty="0" err="1">
                          <a:effectLst/>
                        </a:rPr>
                        <a:t>dq_status</a:t>
                      </a:r>
                      <a:r>
                        <a:rPr lang="en-IN" sz="100" u="none" strike="noStrike" dirty="0">
                          <a:effectLst/>
                        </a:rPr>
                        <a:t>": "SKIPPED",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"Loaded": true,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</a:t>
                      </a:r>
                      <a:r>
                        <a:rPr lang="en-IN" sz="100" u="none" strike="noStrike" dirty="0" err="1">
                          <a:effectLst/>
                        </a:rPr>
                        <a:t>rows_written</a:t>
                      </a:r>
                      <a:r>
                        <a:rPr lang="en-IN" sz="100" u="none" strike="noStrike" dirty="0">
                          <a:effectLst/>
                        </a:rPr>
                        <a:t>": 94723942,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  "message": "Either DQ rules not assigned or DQ status is inactive"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  }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  ]</a:t>
                      </a:r>
                      <a:br>
                        <a:rPr lang="en-IN" sz="100" u="none" strike="noStrike" dirty="0">
                          <a:effectLst/>
                        </a:rPr>
                      </a:br>
                      <a:br>
                        <a:rPr lang="en-IN" sz="100" u="none" strike="noStrike" dirty="0">
                          <a:effectLst/>
                        </a:rPr>
                      </a:br>
                      <a:r>
                        <a:rPr lang="en-IN" sz="100" u="none" strike="noStrike" dirty="0">
                          <a:effectLst/>
                        </a:rPr>
                        <a:t>}</a:t>
                      </a:r>
                      <a:endParaRPr lang="en-IN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98" marR="1098" marT="1098" marB="0" anchor="b"/>
                </a:tc>
                <a:extLst>
                  <a:ext uri="{0D108BD9-81ED-4DB2-BD59-A6C34878D82A}">
                    <a16:rowId xmlns:a16="http://schemas.microsoft.com/office/drawing/2014/main" val="254463910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7C63A10-3695-EFD4-3755-9070D011BA57}"/>
              </a:ext>
            </a:extLst>
          </p:cNvPr>
          <p:cNvSpPr txBox="1"/>
          <p:nvPr/>
        </p:nvSpPr>
        <p:spPr>
          <a:xfrm>
            <a:off x="1898073" y="342900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A dedicated log table for audit and monitoring </a:t>
            </a:r>
            <a:r>
              <a:rPr lang="en-IN" dirty="0" err="1"/>
              <a:t>puprose</a:t>
            </a:r>
            <a:r>
              <a:rPr lang="en-IN" dirty="0"/>
              <a:t>, some of the important column </a:t>
            </a:r>
            <a:r>
              <a:rPr lang="en-IN" dirty="0" err="1"/>
              <a:t>featuers</a:t>
            </a:r>
            <a:r>
              <a:rPr lang="en-IN" dirty="0"/>
              <a:t> is </a:t>
            </a:r>
            <a:r>
              <a:rPr lang="en-IN" dirty="0" err="1"/>
              <a:t>hsown</a:t>
            </a:r>
            <a:r>
              <a:rPr lang="en-IN" dirty="0"/>
              <a:t> here:-</a:t>
            </a:r>
          </a:p>
          <a:p>
            <a:endParaRPr lang="en-IN" dirty="0"/>
          </a:p>
          <a:p>
            <a:r>
              <a:rPr lang="en-IN" dirty="0"/>
              <a:t>Feature:- </a:t>
            </a:r>
          </a:p>
          <a:p>
            <a:r>
              <a:rPr lang="en-IN" dirty="0"/>
              <a:t>1. </a:t>
            </a:r>
            <a:r>
              <a:rPr lang="en-IN" dirty="0" err="1"/>
              <a:t>FOr</a:t>
            </a:r>
            <a:r>
              <a:rPr lang="en-IN" dirty="0"/>
              <a:t> each </a:t>
            </a:r>
            <a:r>
              <a:rPr lang="en-IN" dirty="0" err="1"/>
              <a:t>table_process</a:t>
            </a:r>
            <a:r>
              <a:rPr lang="en-IN" dirty="0"/>
              <a:t> detail </a:t>
            </a:r>
            <a:r>
              <a:rPr lang="en-IN" dirty="0" err="1"/>
              <a:t>ata</a:t>
            </a:r>
            <a:r>
              <a:rPr lang="en-IN" dirty="0"/>
              <a:t> granular level.</a:t>
            </a:r>
          </a:p>
          <a:p>
            <a:r>
              <a:rPr lang="en-IN" dirty="0"/>
              <a:t>2. Status - SUCCESS/PARTIAL_SUCCESS/FAILED (</a:t>
            </a:r>
            <a:r>
              <a:rPr lang="en-IN" dirty="0" err="1"/>
              <a:t>partial_success</a:t>
            </a:r>
            <a:r>
              <a:rPr lang="en-IN" dirty="0"/>
              <a:t>, if some month loaded some failed so that we do not need to load successful months again)</a:t>
            </a:r>
          </a:p>
          <a:p>
            <a:r>
              <a:rPr lang="en-IN" dirty="0"/>
              <a:t>3.Dq _results for each </a:t>
            </a:r>
            <a:r>
              <a:rPr lang="en-IN" dirty="0" err="1"/>
              <a:t>proceess</a:t>
            </a:r>
            <a:endParaRPr lang="en-IN" dirty="0"/>
          </a:p>
          <a:p>
            <a:r>
              <a:rPr lang="en-IN" dirty="0"/>
              <a:t>4. </a:t>
            </a:r>
            <a:r>
              <a:rPr lang="en-IN" dirty="0" err="1"/>
              <a:t>Excutipn</a:t>
            </a:r>
            <a:r>
              <a:rPr lang="en-IN" dirty="0"/>
              <a:t> summary-- Each months log details</a:t>
            </a:r>
          </a:p>
        </p:txBody>
      </p:sp>
    </p:spTree>
    <p:extLst>
      <p:ext uri="{BB962C8B-B14F-4D97-AF65-F5344CB8AC3E}">
        <p14:creationId xmlns:p14="http://schemas.microsoft.com/office/powerpoint/2010/main" val="2543168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202B1-09DB-5F62-7769-F924FC95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2">
            <a:extLst>
              <a:ext uri="{FF2B5EF4-FFF2-40B4-BE49-F238E27FC236}">
                <a16:creationId xmlns:a16="http://schemas.microsoft.com/office/drawing/2014/main" id="{A5EFF416-7E2F-6F2E-DF13-EC5E8F88D88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2949"/>
          </a:xfrm>
          <a:prstGeom prst="rect">
            <a:avLst/>
          </a:prstGeom>
          <a:gradFill>
            <a:gsLst>
              <a:gs pos="0">
                <a:srgbClr val="4D148C">
                  <a:alpha val="90000"/>
                </a:srgbClr>
              </a:gs>
              <a:gs pos="33000">
                <a:srgbClr val="7D22C3">
                  <a:lumMod val="100000"/>
                  <a:alpha val="90000"/>
                </a:srgbClr>
              </a:gs>
              <a:gs pos="100000">
                <a:srgbClr val="FF6600">
                  <a:alpha val="90000"/>
                </a:srgbClr>
              </a:gs>
            </a:gsLst>
            <a:lin ang="10800000" scaled="1"/>
          </a:gradFill>
        </p:spPr>
        <p:txBody>
          <a:bodyPr vert="horz" lIns="576072" tIns="0" rIns="5486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800" b="0" i="0" kern="1200">
                <a:solidFill>
                  <a:schemeClr val="bg1"/>
                </a:solidFill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defRPr>
            </a:lvl1pPr>
          </a:lstStyle>
          <a:p>
            <a:pPr>
              <a:defRPr/>
            </a:pPr>
            <a:r>
              <a:rPr lang="en-US" sz="2400" b="1">
                <a:solidFill>
                  <a:sysClr val="window" lastClr="FFFFFF"/>
                </a:solidFill>
                <a:latin typeface="FedEx Sans"/>
                <a:ea typeface="FedEx Sans" panose="020B0603020203020204" pitchFamily="34" charset="0"/>
                <a:cs typeface="FedEx Sans" panose="020B0603020203020204" pitchFamily="34" charset="0"/>
              </a:rPr>
              <a:t>MKVW CDL Cloud Migration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54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1156</Words>
  <Application>Microsoft Office PowerPoint</Application>
  <PresentationFormat>Widescreen</PresentationFormat>
  <Paragraphs>125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FedEx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FedEx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Jaiswal</dc:creator>
  <cp:lastModifiedBy>Shubham Jaiswal</cp:lastModifiedBy>
  <cp:revision>2</cp:revision>
  <dcterms:created xsi:type="dcterms:W3CDTF">2026-05-21T06:17:53Z</dcterms:created>
  <dcterms:modified xsi:type="dcterms:W3CDTF">2026-07-29T10:17:06Z</dcterms:modified>
</cp:coreProperties>
</file>