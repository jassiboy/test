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AD3079-969D-46E7-B8CA-69D1CFCF1F2B}" v="19" dt="2026-08-06T07:27:46.6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1933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128016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performance comparison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28600" y="530352"/>
            <a:ext cx="1170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Per-table load time across three layers with three approaches: on-prem MKVW, Azure Data Factory (ADF), and native Python on cloud (Azure/GCP)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228600" y="85953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LOAD  ·  time per table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28600" y="1115568"/>
            <a:ext cx="3801770" cy="2121408"/>
          </a:xfrm>
          <a:prstGeom prst="roundRect">
            <a:avLst>
              <a:gd name="adj" fmla="val 4310"/>
            </a:avLst>
          </a:prstGeom>
          <a:solidFill>
            <a:srgbClr val="F6F2FA"/>
          </a:solidFill>
          <a:ln w="9525">
            <a:solidFill>
              <a:srgbClr val="E0D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61872"/>
            <a:ext cx="329184" cy="329184"/>
          </a:xfrm>
          <a:prstGeom prst="ellipse">
            <a:avLst/>
          </a:prstGeom>
          <a:solidFill>
            <a:srgbClr val="7D22C3"/>
          </a:solidFill>
          <a:ln/>
        </p:spPr>
      </p:sp>
      <p:pic>
        <p:nvPicPr>
          <p:cNvPr id="7" name="Image 0" descr="/home/claude/icon_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" y="1339596"/>
            <a:ext cx="173736" cy="1737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32104" y="1225296"/>
            <a:ext cx="30519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(MKVW)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11480" y="1801368"/>
            <a:ext cx="34360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Unavailable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2779776"/>
            <a:ext cx="33445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load-time telemetry captured for on-prem monthly refreshes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94962" y="1115568"/>
            <a:ext cx="3801770" cy="2121408"/>
          </a:xfrm>
          <a:prstGeom prst="roundRect">
            <a:avLst>
              <a:gd name="adj" fmla="val 4310"/>
            </a:avLst>
          </a:prstGeom>
          <a:solidFill>
            <a:srgbClr val="F6F2FA"/>
          </a:solidFill>
          <a:ln w="9525">
            <a:solidFill>
              <a:srgbClr val="E0D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77842" y="1261872"/>
            <a:ext cx="329184" cy="329184"/>
          </a:xfrm>
          <a:prstGeom prst="ellipse">
            <a:avLst/>
          </a:prstGeom>
          <a:solidFill>
            <a:srgbClr val="7D22C3"/>
          </a:solidFill>
          <a:ln/>
        </p:spPr>
      </p:sp>
      <p:pic>
        <p:nvPicPr>
          <p:cNvPr id="13" name="Image 1" descr="/home/claude/icon_clou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566" y="1339596"/>
            <a:ext cx="173736" cy="1737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98466" y="1225296"/>
            <a:ext cx="30519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(Azure ADF)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377842" y="1572768"/>
            <a:ext cx="34360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  </a:t>
            </a:r>
            <a:pPr algn="l" indent="0" marL="0">
              <a:buNone/>
            </a:pPr>
            <a:r>
              <a:rPr lang="en-US" sz="9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table/month</a:t>
            </a:r>
            <a:endParaRPr lang="en-US" sz="2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32122" y="1956816"/>
          <a:ext cx="3527450" cy="914400"/>
        </p:xfrm>
        <a:graphic>
          <a:graphicData uri="http://schemas.openxmlformats.org/drawingml/2006/table">
            <a:tbl>
              <a:tblPr/>
              <a:tblGrid>
                <a:gridCol w="1269882"/>
                <a:gridCol w="917137"/>
                <a:gridCol w="564392"/>
                <a:gridCol w="77603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Table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Load Range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Months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Time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</a:rPr>
                        <a:t>fxg_fac_enti_bill_mth_hist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201701–202604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112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1d 1h 30m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</a:rPr>
                        <a:t>fxg_ctry_enti_bill_mth_hist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201901–202604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88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1d 8h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</a:rPr>
                        <a:t>fxg_glbl_enti_bill_mth_hist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202212–202604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41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20 h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4D148C"/>
                          </a:solidFill>
                        </a:rPr>
                        <a:t>Total</a:t>
                      </a: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4D148C"/>
                          </a:solidFill>
                        </a:rPr>
                        <a:t>241</a:t>
                      </a: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4D148C"/>
                          </a:solidFill>
                        </a:rPr>
                        <a:t>3d 5h</a:t>
                      </a: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7EC"/>
                    </a:solidFill>
                  </a:tcPr>
                </a:tc>
              </a:tr>
            </a:tbl>
          </a:graphicData>
        </a:graphic>
      </p:graphicFrame>
      <p:sp>
        <p:nvSpPr>
          <p:cNvPr id="17" name="Shape 12"/>
          <p:cNvSpPr/>
          <p:nvPr/>
        </p:nvSpPr>
        <p:spPr>
          <a:xfrm>
            <a:off x="8161325" y="1115568"/>
            <a:ext cx="3801770" cy="2121408"/>
          </a:xfrm>
          <a:prstGeom prst="roundRect">
            <a:avLst>
              <a:gd name="adj" fmla="val 4310"/>
            </a:avLst>
          </a:prstGeom>
          <a:solidFill>
            <a:srgbClr val="4D148C"/>
          </a:solidFill>
          <a:ln w="9525">
            <a:solidFill>
              <a:srgbClr val="4D148C"/>
            </a:solidFill>
            <a:prstDash val="solid"/>
          </a:ln>
          <a:effectLst>
            <a:outerShdw sx="100000" sy="100000" kx="0" ky="0" algn="bl" rotWithShape="0" blurRad="76200" dist="25400" dir="5400000">
              <a:srgbClr val="4D148C">
                <a:alpha val="25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44205" y="1261872"/>
            <a:ext cx="329184" cy="329184"/>
          </a:xfrm>
          <a:prstGeom prst="ellipse">
            <a:avLst/>
          </a:prstGeom>
          <a:solidFill>
            <a:srgbClr val="FF6600"/>
          </a:solidFill>
          <a:ln/>
        </p:spPr>
      </p:sp>
      <p:pic>
        <p:nvPicPr>
          <p:cNvPr id="19" name="Image 2" descr="/home/claude/icon_z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929" y="1339596"/>
            <a:ext cx="173736" cy="17373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764829" y="1225296"/>
            <a:ext cx="30519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(Python)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8344205" y="1572768"/>
            <a:ext cx="34360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 sec  </a:t>
            </a:r>
            <a:pPr algn="l" indent="0" marL="0">
              <a:buNone/>
            </a:pPr>
            <a:r>
              <a:rPr lang="en-US" sz="950" b="1" dirty="0">
                <a:solidFill>
                  <a:srgbClr val="EFE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table/month  ·  fastest</a:t>
            </a:r>
            <a:endParaRPr lang="en-US" sz="20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98485" y="1956816"/>
          <a:ext cx="3527450" cy="914400"/>
        </p:xfrm>
        <a:graphic>
          <a:graphicData uri="http://schemas.openxmlformats.org/drawingml/2006/table">
            <a:tbl>
              <a:tblPr/>
              <a:tblGrid>
                <a:gridCol w="1269882"/>
                <a:gridCol w="917137"/>
                <a:gridCol w="564392"/>
                <a:gridCol w="77603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Table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Load Range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Months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Time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fxg_fac_enti_bill_mth_hist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2E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201701–202607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2E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2E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47 min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2E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fxg_ctry_enti_bill_mth_hist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201701–202607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47 min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fxg_glbl_enti_bill_mth_hist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2E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201701–202607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2E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2E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34 min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2E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10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10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</a:rPr>
                        <a:t>345</a:t>
                      </a: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10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</a:rPr>
                        <a:t>128 min</a:t>
                      </a: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1070"/>
                    </a:solidFill>
                  </a:tcPr>
                </a:tc>
              </a:tr>
            </a:tbl>
          </a:graphicData>
        </a:graphic>
      </p:graphicFrame>
      <p:sp>
        <p:nvSpPr>
          <p:cNvPr id="23" name="Text 16"/>
          <p:cNvSpPr/>
          <p:nvPr/>
        </p:nvSpPr>
        <p:spPr>
          <a:xfrm>
            <a:off x="228600" y="332841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LOAD  ·  time per month of refresh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228600" y="3584448"/>
            <a:ext cx="3801770" cy="1828800"/>
          </a:xfrm>
          <a:prstGeom prst="roundRect">
            <a:avLst>
              <a:gd name="adj" fmla="val 5000"/>
            </a:avLst>
          </a:prstGeom>
          <a:solidFill>
            <a:srgbClr val="F6F2FA"/>
          </a:solidFill>
          <a:ln w="9525">
            <a:solidFill>
              <a:srgbClr val="E0D7EC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411480" y="3730752"/>
            <a:ext cx="329184" cy="329184"/>
          </a:xfrm>
          <a:prstGeom prst="ellipse">
            <a:avLst/>
          </a:prstGeom>
          <a:solidFill>
            <a:srgbClr val="7D22C3"/>
          </a:solidFill>
          <a:ln/>
        </p:spPr>
      </p:sp>
      <p:pic>
        <p:nvPicPr>
          <p:cNvPr id="26" name="Image 3" descr="/home/claude/icon_serv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" y="3808476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32104" y="3694176"/>
            <a:ext cx="30519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(MKVW)</a:t>
            </a:r>
            <a:endParaRPr lang="en-US" sz="1150" dirty="0"/>
          </a:p>
        </p:txBody>
      </p:sp>
      <p:sp>
        <p:nvSpPr>
          <p:cNvPr id="28" name="Text 20"/>
          <p:cNvSpPr/>
          <p:nvPr/>
        </p:nvSpPr>
        <p:spPr>
          <a:xfrm>
            <a:off x="411480" y="4041648"/>
            <a:ext cx="34360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30–40 min  </a:t>
            </a:r>
            <a:pPr algn="l" indent="0" marL="0">
              <a:buNone/>
            </a:pPr>
            <a:r>
              <a:rPr lang="en-US" sz="9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of refresh</a:t>
            </a:r>
            <a:endParaRPr lang="en-US" sz="20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425696"/>
          <a:ext cx="3527450" cy="914400"/>
        </p:xfrm>
        <a:graphic>
          <a:graphicData uri="http://schemas.openxmlformats.org/drawingml/2006/table">
            <a:tbl>
              <a:tblPr/>
              <a:tblGrid>
                <a:gridCol w="2116470"/>
                <a:gridCol w="14109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Refresh Job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Time / month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</a:rPr>
                        <a:t>FXG (ground)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20–30 min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</a:rPr>
                        <a:t>FXG (smartpost)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15–20 min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</a:tr>
            </a:tbl>
          </a:graphicData>
        </a:graphic>
      </p:graphicFrame>
      <p:sp>
        <p:nvSpPr>
          <p:cNvPr id="30" name="Text 21"/>
          <p:cNvSpPr/>
          <p:nvPr/>
        </p:nvSpPr>
        <p:spPr>
          <a:xfrm>
            <a:off x="411480" y="5029200"/>
            <a:ext cx="34360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refresh time across both jobs runs 30–40 min per month</a:t>
            </a:r>
            <a:endParaRPr lang="en-US" sz="850" dirty="0"/>
          </a:p>
        </p:txBody>
      </p:sp>
      <p:sp>
        <p:nvSpPr>
          <p:cNvPr id="31" name="Shape 22"/>
          <p:cNvSpPr/>
          <p:nvPr/>
        </p:nvSpPr>
        <p:spPr>
          <a:xfrm>
            <a:off x="4194962" y="3584448"/>
            <a:ext cx="3801770" cy="1828800"/>
          </a:xfrm>
          <a:prstGeom prst="roundRect">
            <a:avLst>
              <a:gd name="adj" fmla="val 5000"/>
            </a:avLst>
          </a:prstGeom>
          <a:solidFill>
            <a:srgbClr val="F6F2FA"/>
          </a:solidFill>
          <a:ln w="9525">
            <a:solidFill>
              <a:srgbClr val="E0D7EC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4377842" y="3730752"/>
            <a:ext cx="329184" cy="329184"/>
          </a:xfrm>
          <a:prstGeom prst="ellipse">
            <a:avLst/>
          </a:prstGeom>
          <a:solidFill>
            <a:srgbClr val="7D22C3"/>
          </a:solidFill>
          <a:ln/>
        </p:spPr>
      </p:sp>
      <p:pic>
        <p:nvPicPr>
          <p:cNvPr id="33" name="Image 4" descr="/home/claude/icon_clou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5566" y="3808476"/>
            <a:ext cx="173736" cy="173736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4798466" y="3694176"/>
            <a:ext cx="30519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(Azure ADF)</a:t>
            </a:r>
            <a:endParaRPr lang="en-US" sz="1150" dirty="0"/>
          </a:p>
        </p:txBody>
      </p:sp>
      <p:sp>
        <p:nvSpPr>
          <p:cNvPr id="35" name="Text 25"/>
          <p:cNvSpPr/>
          <p:nvPr/>
        </p:nvSpPr>
        <p:spPr>
          <a:xfrm>
            <a:off x="4377842" y="4041648"/>
            <a:ext cx="34360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hrs  </a:t>
            </a:r>
            <a:pPr algn="l" indent="0" marL="0">
              <a:buNone/>
            </a:pPr>
            <a:r>
              <a:rPr lang="en-US" sz="9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of refresh</a:t>
            </a:r>
            <a:endParaRPr lang="en-US" sz="2000" dirty="0"/>
          </a:p>
        </p:txBody>
      </p:sp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32122" y="4425696"/>
          <a:ext cx="3527450" cy="914400"/>
        </p:xfrm>
        <a:graphic>
          <a:graphicData uri="http://schemas.openxmlformats.org/drawingml/2006/table">
            <a:tbl>
              <a:tblPr/>
              <a:tblGrid>
                <a:gridCol w="1269882"/>
                <a:gridCol w="917137"/>
                <a:gridCol w="564392"/>
                <a:gridCol w="77603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Table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Load Range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Months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Time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</a:rPr>
                        <a:t>fxg_fac_enti_bill_dly_hist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202205–202604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24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1d 14h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</a:rPr>
                        <a:t>fxg_glbl_enti_bill_dly_hist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202205–202604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24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4A4A"/>
                          </a:solidFill>
                        </a:rPr>
                        <a:t>1d 10h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4D148C"/>
                          </a:solidFill>
                        </a:rPr>
                        <a:t>Total</a:t>
                      </a: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4D148C"/>
                          </a:solidFill>
                        </a:rPr>
                        <a:t>48</a:t>
                      </a: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4D148C"/>
                          </a:solidFill>
                        </a:rPr>
                        <a:t>3 days</a:t>
                      </a: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7EC"/>
                    </a:solidFill>
                  </a:tcPr>
                </a:tc>
              </a:tr>
            </a:tbl>
          </a:graphicData>
        </a:graphic>
      </p:graphicFrame>
      <p:sp>
        <p:nvSpPr>
          <p:cNvPr id="37" name="Shape 26"/>
          <p:cNvSpPr/>
          <p:nvPr/>
        </p:nvSpPr>
        <p:spPr>
          <a:xfrm>
            <a:off x="8161325" y="3584448"/>
            <a:ext cx="3801770" cy="1828800"/>
          </a:xfrm>
          <a:prstGeom prst="roundRect">
            <a:avLst>
              <a:gd name="adj" fmla="val 5000"/>
            </a:avLst>
          </a:prstGeom>
          <a:solidFill>
            <a:srgbClr val="4D148C"/>
          </a:solidFill>
          <a:ln w="9525">
            <a:solidFill>
              <a:srgbClr val="4D148C"/>
            </a:solidFill>
            <a:prstDash val="solid"/>
          </a:ln>
          <a:effectLst>
            <a:outerShdw sx="100000" sy="100000" kx="0" ky="0" algn="bl" rotWithShape="0" blurRad="76200" dist="25400" dir="5400000">
              <a:srgbClr val="4D148C">
                <a:alpha val="25000"/>
              </a:srgbClr>
            </a:outerShdw>
          </a:effectLst>
        </p:spPr>
      </p:sp>
      <p:sp>
        <p:nvSpPr>
          <p:cNvPr id="38" name="Shape 27"/>
          <p:cNvSpPr/>
          <p:nvPr/>
        </p:nvSpPr>
        <p:spPr>
          <a:xfrm>
            <a:off x="8344205" y="3730752"/>
            <a:ext cx="329184" cy="329184"/>
          </a:xfrm>
          <a:prstGeom prst="ellipse">
            <a:avLst/>
          </a:prstGeom>
          <a:solidFill>
            <a:srgbClr val="FF6600"/>
          </a:solidFill>
          <a:ln/>
        </p:spPr>
      </p:sp>
      <p:pic>
        <p:nvPicPr>
          <p:cNvPr id="39" name="Image 5" descr="/home/claude/icon_za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929" y="3808476"/>
            <a:ext cx="173736" cy="173736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8764829" y="3694176"/>
            <a:ext cx="30519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(Python)</a:t>
            </a:r>
            <a:endParaRPr lang="en-US" sz="1150" dirty="0"/>
          </a:p>
        </p:txBody>
      </p:sp>
      <p:sp>
        <p:nvSpPr>
          <p:cNvPr id="41" name="Text 29"/>
          <p:cNvSpPr/>
          <p:nvPr/>
        </p:nvSpPr>
        <p:spPr>
          <a:xfrm>
            <a:off x="8344205" y="4041648"/>
            <a:ext cx="34360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sec  </a:t>
            </a:r>
            <a:pPr algn="l" indent="0" marL="0">
              <a:buNone/>
            </a:pPr>
            <a:r>
              <a:rPr lang="en-US" sz="950" b="1" dirty="0">
                <a:solidFill>
                  <a:srgbClr val="EFE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 ·  fastest</a:t>
            </a:r>
            <a:endParaRPr lang="en-US" sz="2000" dirty="0"/>
          </a:p>
        </p:txBody>
      </p:sp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98485" y="4425696"/>
          <a:ext cx="3527450" cy="914400"/>
        </p:xfrm>
        <a:graphic>
          <a:graphicData uri="http://schemas.openxmlformats.org/drawingml/2006/table">
            <a:tbl>
              <a:tblPr/>
              <a:tblGrid>
                <a:gridCol w="1269882"/>
                <a:gridCol w="917137"/>
                <a:gridCol w="564392"/>
                <a:gridCol w="77603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Table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Load Range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Months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Time</a:t>
                      </a:r>
                      <a:endParaRPr lang="en-US" sz="85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fxg_fac_enti_bill_dly_hist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2E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202305–202607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2E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27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2E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21 min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2E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fxg_glbl_enti_bill_dly_hist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202305–202607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27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 min</a:t>
                      </a:r>
                      <a:endParaRPr lang="en-US" sz="80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10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10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</a:rPr>
                        <a:t>54</a:t>
                      </a: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10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</a:rPr>
                        <a:t>30 min</a:t>
                      </a:r>
                      <a:endParaRPr lang="en-US" sz="820" dirty="0"/>
                    </a:p>
                  </a:txBody>
                  <a:tcPr marL="50800" marR="38100" marT="12700" marB="12700" anchor="ctr">
                    <a:lnL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B3A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1070"/>
                    </a:solidFill>
                  </a:tcPr>
                </a:tc>
              </a:tr>
            </a:tbl>
          </a:graphicData>
        </a:graphic>
      </p:graphicFrame>
      <p:sp>
        <p:nvSpPr>
          <p:cNvPr id="43" name="Text 30"/>
          <p:cNvSpPr/>
          <p:nvPr/>
        </p:nvSpPr>
        <p:spPr>
          <a:xfrm>
            <a:off x="228600" y="550468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HISTORICAL BACKFILL — TOTALS</a:t>
            </a:r>
            <a:endParaRPr lang="en-US" sz="1250" dirty="0"/>
          </a:p>
        </p:txBody>
      </p:sp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5742432"/>
          <a:ext cx="11734495" cy="914400"/>
        </p:xfrm>
        <a:graphic>
          <a:graphicData uri="http://schemas.openxmlformats.org/drawingml/2006/table">
            <a:tbl>
              <a:tblPr/>
              <a:tblGrid>
                <a:gridCol w="2816279"/>
                <a:gridCol w="2229554"/>
                <a:gridCol w="2229554"/>
                <a:gridCol w="2229554"/>
                <a:gridCol w="2229554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Refresh Job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Cloud ADF — Months Loaded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Cloud ADF — Time Taken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Cloud Python — Months Loaded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Cloud Python — Time Taken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</a:rPr>
                        <a:t>Monthly-cadence tables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D148C"/>
                          </a:solidFill>
                        </a:rPr>
                        <a:t>241 months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D148C"/>
                          </a:solidFill>
                        </a:rPr>
                        <a:t>3d 5hr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600"/>
                          </a:solidFill>
                        </a:rPr>
                        <a:t>345 months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600"/>
                          </a:solidFill>
                        </a:rPr>
                        <a:t>128 min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</a:rPr>
                        <a:t>Daily-cadence tables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D148C"/>
                          </a:solidFill>
                        </a:rPr>
                        <a:t>48 months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D148C"/>
                          </a:solidFill>
                        </a:rPr>
                        <a:t>3 days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600"/>
                          </a:solidFill>
                        </a:rPr>
                        <a:t>54 months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600"/>
                          </a:solidFill>
                        </a:rPr>
                        <a:t>30 min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</a:tr>
            </a:tbl>
          </a:graphicData>
        </a:graphic>
      </p:graphicFrame>
      <p:sp>
        <p:nvSpPr>
          <p:cNvPr id="45" name="Text 31"/>
          <p:cNvSpPr/>
          <p:nvPr/>
        </p:nvSpPr>
        <p:spPr>
          <a:xfrm>
            <a:off x="228600" y="656539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FXG Data Pipeline — Load Performance</a:t>
            </a:r>
            <a:endParaRPr lang="en-US" sz="850" dirty="0"/>
          </a:p>
        </p:txBody>
      </p:sp>
      <p:sp>
        <p:nvSpPr>
          <p:cNvPr id="46" name="Text 32"/>
          <p:cNvSpPr/>
          <p:nvPr/>
        </p:nvSpPr>
        <p:spPr>
          <a:xfrm>
            <a:off x="7391095" y="656539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Performance Overview</a:t>
            </a:r>
            <a:endParaRPr lang="en-US" sz="850" dirty="0"/>
          </a:p>
        </p:txBody>
      </p:sp>
      <p:sp>
        <p:nvSpPr>
          <p:cNvPr id="47" name="Text 33"/>
          <p:cNvSpPr/>
          <p:nvPr/>
        </p:nvSpPr>
        <p:spPr>
          <a:xfrm>
            <a:off x="11688775" y="6565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6576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 Data Pipeline — Load Performance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365760" y="7863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 · DETAILED BREAKDOWN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365760" y="1042416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Table-Level Detail &amp; Estimated Cost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365760" y="1463040"/>
            <a:ext cx="11430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table load results for the historical backfill, plus estimated compute cost for Cloud ADF vs. Cloud Python (Databricks)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365760" y="18745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MONTHLY-CADENCE TABLES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490335"/>
              </p:ext>
            </p:extLst>
          </p:nvPr>
        </p:nvGraphicFramePr>
        <p:xfrm>
          <a:off x="365760" y="2167128"/>
          <a:ext cx="9628632" cy="147828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ADF — Load Range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ADF — Months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ADF —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— Load Range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— Months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—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 Unicode MS"/>
                        </a:rPr>
                        <a:t>fxg_fac_enti_bill_mth_hist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0" marR="6350" marT="6350" marB="0"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201701–202604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1d 1h 30m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201701–202607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0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/>
                        </a:rPr>
                        <a:t>fxg_ctry_enti_bill_mth_hist</a:t>
                      </a:r>
                    </a:p>
                  </a:txBody>
                  <a:tcPr marL="95250" marR="6350" marT="6350" marB="0"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201901–202604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1d 8h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201701–202607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 Unicode MS"/>
                        </a:rPr>
                        <a:t>fxg_glbl_enti_bill_mth_hist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0" marR="6350" marT="6350" marB="0"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202212–202604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201701–202607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3d 5h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365760" y="364845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DAILY-CADENCE TABLES</a:t>
            </a:r>
            <a:endParaRPr lang="en-US" sz="1250" dirty="0"/>
          </a:p>
        </p:txBody>
      </p:sp>
      <p:graphicFrame>
        <p:nvGraphicFramePr>
          <p:cNvPr id="1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941064"/>
          <a:ext cx="9628632" cy="120396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ADF — Load Range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ADF — Months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ADF —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— Load Range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— Months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—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22C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FXG_FAC_ENTI_BILL_DLY_HIST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202205–202604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1d 14h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202305–202607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FXG_glbl_enti_BILL_DLY_HIST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202205–202604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1d 10h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202305–202607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days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14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365760" y="51480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COST — DAILY HISTORICAL BACKFILL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365760" y="5458968"/>
            <a:ext cx="5602072" cy="896112"/>
          </a:xfrm>
          <a:prstGeom prst="roundRect">
            <a:avLst>
              <a:gd name="adj" fmla="val 8163"/>
            </a:avLst>
          </a:prstGeom>
          <a:solidFill>
            <a:srgbClr val="F6F2FA"/>
          </a:solidFill>
          <a:ln w="12700">
            <a:solidFill>
              <a:srgbClr val="E0D7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603504" y="5687568"/>
            <a:ext cx="438912" cy="438912"/>
          </a:xfrm>
          <a:prstGeom prst="ellipse">
            <a:avLst/>
          </a:prstGeom>
          <a:solidFill>
            <a:srgbClr val="7D22C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4" name="Image 1" descr="/home/claude/icons/doll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5786323"/>
            <a:ext cx="241402" cy="24140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43000" y="5550408"/>
            <a:ext cx="285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ADF (Azure Data Factory)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1143000" y="5843016"/>
            <a:ext cx="285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 DIUs × 72 </a:t>
            </a:r>
            <a:r>
              <a:rPr lang="en-US" sz="900" dirty="0" err="1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hrs</a:t>
            </a: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 = 288 DIU-hrs × $0.25/DIU-</a:t>
            </a:r>
            <a:r>
              <a:rPr lang="en-US" sz="900" dirty="0" err="1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900" dirty="0">
              <a:solidFill>
                <a:srgbClr val="4A4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Source: Microsoft Copilot est.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4093312" y="5458968"/>
            <a:ext cx="1691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D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$72</a:t>
            </a:r>
            <a:endParaRPr lang="en-US" sz="3200" dirty="0"/>
          </a:p>
        </p:txBody>
      </p:sp>
      <p:sp>
        <p:nvSpPr>
          <p:cNvPr id="18" name="Shape 12"/>
          <p:cNvSpPr/>
          <p:nvPr/>
        </p:nvSpPr>
        <p:spPr>
          <a:xfrm>
            <a:off x="6223864" y="5458968"/>
            <a:ext cx="5602072" cy="896112"/>
          </a:xfrm>
          <a:prstGeom prst="roundRect">
            <a:avLst>
              <a:gd name="adj" fmla="val 8163"/>
            </a:avLst>
          </a:prstGeom>
          <a:solidFill>
            <a:srgbClr val="4D148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3"/>
          <p:cNvSpPr/>
          <p:nvPr/>
        </p:nvSpPr>
        <p:spPr>
          <a:xfrm>
            <a:off x="6461608" y="5687568"/>
            <a:ext cx="438912" cy="438912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0" name="Image 2" descr="/home/claude/icons/doll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363" y="5786323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001104" y="5550408"/>
            <a:ext cx="285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Python (Databricks, D16ds_v5)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7001104" y="5843016"/>
            <a:ext cx="285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FE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 × $25.62/hr (14-worker, on-demand)  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EFE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Source: Databricks Genie est.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7001104" y="6062472"/>
            <a:ext cx="2858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E4D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Mid-tier (8 workers, spot ≈ $10.35/hr) would cost even less.</a:t>
            </a:r>
            <a:endParaRPr lang="en-US" sz="800" dirty="0"/>
          </a:p>
        </p:txBody>
      </p:sp>
      <p:sp>
        <p:nvSpPr>
          <p:cNvPr id="24" name="Text 17"/>
          <p:cNvSpPr/>
          <p:nvPr/>
        </p:nvSpPr>
        <p:spPr>
          <a:xfrm>
            <a:off x="9951415" y="5458968"/>
            <a:ext cx="1691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</a:t>
            </a:r>
            <a:endParaRPr lang="en-US" sz="3200" dirty="0"/>
          </a:p>
        </p:txBody>
      </p:sp>
      <p:sp>
        <p:nvSpPr>
          <p:cNvPr id="25" name="Text 18"/>
          <p:cNvSpPr/>
          <p:nvPr/>
        </p:nvSpPr>
        <p:spPr>
          <a:xfrm>
            <a:off x="365760" y="65471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FXG Data Pipeline — Load Performance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6858000" y="65471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Detail &amp; Cost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521440" y="6547104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516</Words>
  <Application>Microsoft Office PowerPoint</Application>
  <PresentationFormat>Widescreen</PresentationFormat>
  <Paragraphs>138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Arial Unicode MS</vt:lpstr>
      <vt:lpstr>Calibri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Shubham Jaiswal</cp:lastModifiedBy>
  <cp:revision>2</cp:revision>
  <dcterms:created xsi:type="dcterms:W3CDTF">2026-08-06T07:06:40Z</dcterms:created>
  <dcterms:modified xsi:type="dcterms:W3CDTF">2026-08-06T07:34:55Z</dcterms:modified>
</cp:coreProperties>
</file>