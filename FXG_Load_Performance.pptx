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5AD3079-969D-46E7-B8CA-69D1CFCF1F2B}" v="19" dt="2026-08-06T07:27:46.69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9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19331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2"/>
          <p:cNvSpPr/>
          <p:nvPr/>
        </p:nvSpPr>
        <p:spPr>
          <a:xfrm>
            <a:off x="213055" y="9144"/>
            <a:ext cx="1143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4D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performance comparison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213055" y="374904"/>
            <a:ext cx="11430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Per-table load time across three layers with three approaches: on-prem MKVW, Azure Data Factory (ADF), and native Python on cloud (Azure/GCP)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213055" y="64008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D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LOAD  ·  time per table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210312" y="1088136"/>
            <a:ext cx="2624328" cy="2205736"/>
          </a:xfrm>
          <a:prstGeom prst="roundRect">
            <a:avLst>
              <a:gd name="adj" fmla="val 6557"/>
            </a:avLst>
          </a:prstGeom>
          <a:solidFill>
            <a:srgbClr val="F6F2FA"/>
          </a:solidFill>
          <a:ln w="12700">
            <a:solidFill>
              <a:srgbClr val="E0D7EC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9" name="Shape 6"/>
          <p:cNvSpPr/>
          <p:nvPr/>
        </p:nvSpPr>
        <p:spPr>
          <a:xfrm>
            <a:off x="393192" y="1159662"/>
            <a:ext cx="402336" cy="402336"/>
          </a:xfrm>
          <a:prstGeom prst="ellipse">
            <a:avLst/>
          </a:prstGeom>
          <a:solidFill>
            <a:srgbClr val="7D22C3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0" name="Image 1" descr="/home/claude/icons/serve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718" y="1250188"/>
            <a:ext cx="221285" cy="22128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86968" y="1177950"/>
            <a:ext cx="27806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 (MKVW)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393192" y="2012696"/>
            <a:ext cx="2122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9A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Unavailable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3159709" y="1051560"/>
            <a:ext cx="4031336" cy="2569464"/>
          </a:xfrm>
          <a:prstGeom prst="roundRect">
            <a:avLst>
              <a:gd name="adj" fmla="val 6557"/>
            </a:avLst>
          </a:prstGeom>
          <a:solidFill>
            <a:srgbClr val="F6F2FA"/>
          </a:solidFill>
          <a:ln w="12700">
            <a:solidFill>
              <a:srgbClr val="E0D7EC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4" name="Shape 10"/>
          <p:cNvSpPr/>
          <p:nvPr/>
        </p:nvSpPr>
        <p:spPr>
          <a:xfrm>
            <a:off x="3379165" y="1179576"/>
            <a:ext cx="402336" cy="402336"/>
          </a:xfrm>
          <a:prstGeom prst="ellipse">
            <a:avLst/>
          </a:prstGeom>
          <a:solidFill>
            <a:srgbClr val="7D22C3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5" name="Image 2" descr="/home/claude/icons/cloud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9691" y="1270102"/>
            <a:ext cx="221285" cy="221285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872941" y="1197864"/>
            <a:ext cx="27806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(Azure ADF)</a:t>
            </a:r>
            <a:endParaRPr lang="en-US" sz="1150" dirty="0"/>
          </a:p>
        </p:txBody>
      </p:sp>
      <p:sp>
        <p:nvSpPr>
          <p:cNvPr id="17" name="Text 12"/>
          <p:cNvSpPr/>
          <p:nvPr/>
        </p:nvSpPr>
        <p:spPr>
          <a:xfrm>
            <a:off x="3342589" y="1563624"/>
            <a:ext cx="328361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4D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 </a:t>
            </a:r>
            <a:r>
              <a:rPr lang="en-US" sz="1100" b="1" dirty="0">
                <a:solidFill>
                  <a:srgbClr val="4D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table/month</a:t>
            </a:r>
            <a:endParaRPr lang="en-US" sz="2300" dirty="0"/>
          </a:p>
        </p:txBody>
      </p:sp>
      <p:sp>
        <p:nvSpPr>
          <p:cNvPr id="19" name="Shape 14"/>
          <p:cNvSpPr/>
          <p:nvPr/>
        </p:nvSpPr>
        <p:spPr>
          <a:xfrm>
            <a:off x="7546645" y="1051559"/>
            <a:ext cx="3649370" cy="2556287"/>
          </a:xfrm>
          <a:prstGeom prst="roundRect">
            <a:avLst>
              <a:gd name="adj" fmla="val 6557"/>
            </a:avLst>
          </a:prstGeom>
          <a:solidFill>
            <a:srgbClr val="4D148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Shape 15"/>
          <p:cNvSpPr/>
          <p:nvPr/>
        </p:nvSpPr>
        <p:spPr>
          <a:xfrm>
            <a:off x="7766101" y="1179576"/>
            <a:ext cx="402336" cy="402336"/>
          </a:xfrm>
          <a:prstGeom prst="ellipse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1" name="Image 3" descr="/home/claude/icons/zap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56626" y="1270102"/>
            <a:ext cx="221285" cy="221285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259877" y="1197864"/>
            <a:ext cx="27806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(Python)</a:t>
            </a:r>
            <a:endParaRPr lang="en-US" sz="1150" dirty="0"/>
          </a:p>
        </p:txBody>
      </p:sp>
      <p:sp>
        <p:nvSpPr>
          <p:cNvPr id="23" name="Text 17"/>
          <p:cNvSpPr/>
          <p:nvPr/>
        </p:nvSpPr>
        <p:spPr>
          <a:xfrm>
            <a:off x="7729525" y="1563624"/>
            <a:ext cx="328361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22.3 sec </a:t>
            </a:r>
            <a:r>
              <a:rPr lang="en-US" sz="700" b="1" dirty="0">
                <a:solidFill>
                  <a:srgbClr val="EFE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table / month  ·  fastest</a:t>
            </a:r>
            <a:endParaRPr lang="en-US" sz="700" dirty="0"/>
          </a:p>
          <a:p>
            <a:pPr marL="0" indent="0" algn="ctr">
              <a:buNone/>
            </a:pPr>
            <a:endParaRPr lang="en-US" sz="2300" dirty="0"/>
          </a:p>
        </p:txBody>
      </p:sp>
      <p:sp>
        <p:nvSpPr>
          <p:cNvPr id="24" name="Text 18"/>
          <p:cNvSpPr/>
          <p:nvPr/>
        </p:nvSpPr>
        <p:spPr>
          <a:xfrm>
            <a:off x="7967268" y="1929384"/>
            <a:ext cx="328361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365760" y="340156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D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LOAD  ·  time per month of refresh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365760" y="3675888"/>
            <a:ext cx="3649370" cy="1115568"/>
          </a:xfrm>
          <a:prstGeom prst="roundRect">
            <a:avLst>
              <a:gd name="adj" fmla="val 6557"/>
            </a:avLst>
          </a:prstGeom>
          <a:solidFill>
            <a:srgbClr val="F6F2FA"/>
          </a:solidFill>
          <a:ln w="12700">
            <a:solidFill>
              <a:srgbClr val="E0D7E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Shape 21"/>
          <p:cNvSpPr/>
          <p:nvPr/>
        </p:nvSpPr>
        <p:spPr>
          <a:xfrm>
            <a:off x="585216" y="3803904"/>
            <a:ext cx="402336" cy="402336"/>
          </a:xfrm>
          <a:prstGeom prst="ellipse">
            <a:avLst/>
          </a:prstGeom>
          <a:solidFill>
            <a:srgbClr val="7D22C3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8" name="Image 4" descr="/home/claude/icons/serve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742" y="3894430"/>
            <a:ext cx="221285" cy="221285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078992" y="3822192"/>
            <a:ext cx="27806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 (MKVW)</a:t>
            </a:r>
            <a:endParaRPr lang="en-US" sz="1150" dirty="0"/>
          </a:p>
        </p:txBody>
      </p:sp>
      <p:sp>
        <p:nvSpPr>
          <p:cNvPr id="30" name="Text 23"/>
          <p:cNvSpPr/>
          <p:nvPr/>
        </p:nvSpPr>
        <p:spPr>
          <a:xfrm>
            <a:off x="548640" y="4169664"/>
            <a:ext cx="32836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4D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30–40 min</a:t>
            </a:r>
            <a:endParaRPr lang="en-US" sz="2000" dirty="0"/>
          </a:p>
        </p:txBody>
      </p:sp>
      <p:sp>
        <p:nvSpPr>
          <p:cNvPr id="31" name="Text 24"/>
          <p:cNvSpPr/>
          <p:nvPr/>
        </p:nvSpPr>
        <p:spPr>
          <a:xfrm>
            <a:off x="457200" y="4553712"/>
            <a:ext cx="346649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FXG ground 20–30 min • smartpost 15–20 min</a:t>
            </a:r>
            <a:endParaRPr lang="en-US" sz="750" dirty="0"/>
          </a:p>
        </p:txBody>
      </p:sp>
      <p:sp>
        <p:nvSpPr>
          <p:cNvPr id="32" name="Shape 25"/>
          <p:cNvSpPr/>
          <p:nvPr/>
        </p:nvSpPr>
        <p:spPr>
          <a:xfrm>
            <a:off x="4271162" y="3675888"/>
            <a:ext cx="3649370" cy="1115568"/>
          </a:xfrm>
          <a:prstGeom prst="roundRect">
            <a:avLst>
              <a:gd name="adj" fmla="val 6557"/>
            </a:avLst>
          </a:prstGeom>
          <a:solidFill>
            <a:srgbClr val="F6F2FA"/>
          </a:solidFill>
          <a:ln w="12700">
            <a:solidFill>
              <a:srgbClr val="E0D7E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Shape 26"/>
          <p:cNvSpPr/>
          <p:nvPr/>
        </p:nvSpPr>
        <p:spPr>
          <a:xfrm>
            <a:off x="4490618" y="3803904"/>
            <a:ext cx="402336" cy="402336"/>
          </a:xfrm>
          <a:prstGeom prst="ellipse">
            <a:avLst/>
          </a:prstGeom>
          <a:solidFill>
            <a:srgbClr val="7D22C3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4" name="Image 5" descr="/home/claude/icons/cloud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1144" y="3894430"/>
            <a:ext cx="221285" cy="221285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4984394" y="3822192"/>
            <a:ext cx="27806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(Azure ADF)</a:t>
            </a:r>
            <a:endParaRPr lang="en-US" sz="1150" dirty="0"/>
          </a:p>
        </p:txBody>
      </p:sp>
      <p:sp>
        <p:nvSpPr>
          <p:cNvPr id="36" name="Text 28"/>
          <p:cNvSpPr/>
          <p:nvPr/>
        </p:nvSpPr>
        <p:spPr>
          <a:xfrm>
            <a:off x="4454042" y="4187952"/>
            <a:ext cx="328361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4D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 hrs</a:t>
            </a:r>
            <a:endParaRPr lang="en-US" sz="2300" dirty="0"/>
          </a:p>
        </p:txBody>
      </p:sp>
      <p:sp>
        <p:nvSpPr>
          <p:cNvPr id="37" name="Text 29"/>
          <p:cNvSpPr/>
          <p:nvPr/>
        </p:nvSpPr>
        <p:spPr>
          <a:xfrm>
            <a:off x="4454042" y="4590288"/>
            <a:ext cx="328361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 of refresh</a:t>
            </a:r>
            <a:endParaRPr lang="en-US" sz="900" dirty="0"/>
          </a:p>
        </p:txBody>
      </p:sp>
      <p:sp>
        <p:nvSpPr>
          <p:cNvPr id="38" name="Shape 30"/>
          <p:cNvSpPr/>
          <p:nvPr/>
        </p:nvSpPr>
        <p:spPr>
          <a:xfrm>
            <a:off x="8176565" y="3675888"/>
            <a:ext cx="3649370" cy="1115568"/>
          </a:xfrm>
          <a:prstGeom prst="roundRect">
            <a:avLst>
              <a:gd name="adj" fmla="val 6557"/>
            </a:avLst>
          </a:prstGeom>
          <a:solidFill>
            <a:srgbClr val="4D148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9" name="Shape 31"/>
          <p:cNvSpPr/>
          <p:nvPr/>
        </p:nvSpPr>
        <p:spPr>
          <a:xfrm>
            <a:off x="8396021" y="3803904"/>
            <a:ext cx="402336" cy="402336"/>
          </a:xfrm>
          <a:prstGeom prst="ellipse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40" name="Image 6" descr="/home/claude/icons/zap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6546" y="3894430"/>
            <a:ext cx="221285" cy="221285"/>
          </a:xfrm>
          <a:prstGeom prst="rect">
            <a:avLst/>
          </a:prstGeom>
        </p:spPr>
      </p:pic>
      <p:sp>
        <p:nvSpPr>
          <p:cNvPr id="41" name="Text 32"/>
          <p:cNvSpPr/>
          <p:nvPr/>
        </p:nvSpPr>
        <p:spPr>
          <a:xfrm>
            <a:off x="8889797" y="3822192"/>
            <a:ext cx="27806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(Python)</a:t>
            </a:r>
            <a:endParaRPr lang="en-US" sz="1150" dirty="0"/>
          </a:p>
        </p:txBody>
      </p:sp>
      <p:sp>
        <p:nvSpPr>
          <p:cNvPr id="42" name="Text 33"/>
          <p:cNvSpPr/>
          <p:nvPr/>
        </p:nvSpPr>
        <p:spPr>
          <a:xfrm>
            <a:off x="8359445" y="4187952"/>
            <a:ext cx="328361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33.3 sec</a:t>
            </a:r>
            <a:endParaRPr lang="en-US" sz="2300" dirty="0"/>
          </a:p>
        </p:txBody>
      </p:sp>
      <p:sp>
        <p:nvSpPr>
          <p:cNvPr id="43" name="Text 34"/>
          <p:cNvSpPr/>
          <p:nvPr/>
        </p:nvSpPr>
        <p:spPr>
          <a:xfrm>
            <a:off x="8359445" y="4590288"/>
            <a:ext cx="328361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FE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  ·  fastest</a:t>
            </a:r>
            <a:endParaRPr lang="en-US" sz="900" dirty="0"/>
          </a:p>
        </p:txBody>
      </p:sp>
      <p:sp>
        <p:nvSpPr>
          <p:cNvPr id="44" name="Text 35"/>
          <p:cNvSpPr/>
          <p:nvPr/>
        </p:nvSpPr>
        <p:spPr>
          <a:xfrm>
            <a:off x="413307" y="56078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D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3-YEAR HISTORICAL BACKFILL — TOTALS</a:t>
            </a:r>
            <a:endParaRPr lang="en-US" sz="125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0926871"/>
              </p:ext>
            </p:extLst>
          </p:nvPr>
        </p:nvGraphicFramePr>
        <p:xfrm>
          <a:off x="350520" y="5779008"/>
          <a:ext cx="11460175" cy="850392"/>
        </p:xfrm>
        <a:graphic>
          <a:graphicData uri="http://schemas.openxmlformats.org/drawingml/2006/table">
            <a:tbl>
              <a:tblPr/>
              <a:tblGrid>
                <a:gridCol w="32305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Refresh Job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22C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ADF — Months Loaded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22C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ADF — Time Taken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22C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Python — Months Loaded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22C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Python — Time Taken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22C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Monthly-cadence tables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4D14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241 months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4D14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3d 5hr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345 months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Daily-cadence tables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4D14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 months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4D14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days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 months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6" name="Text 36"/>
          <p:cNvSpPr/>
          <p:nvPr/>
        </p:nvSpPr>
        <p:spPr>
          <a:xfrm>
            <a:off x="365760" y="654710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FXG Data Pipeline — Load Performance</a:t>
            </a:r>
            <a:endParaRPr lang="en-US" sz="900" dirty="0"/>
          </a:p>
        </p:txBody>
      </p:sp>
      <p:sp>
        <p:nvSpPr>
          <p:cNvPr id="47" name="Text 37"/>
          <p:cNvSpPr/>
          <p:nvPr/>
        </p:nvSpPr>
        <p:spPr>
          <a:xfrm>
            <a:off x="6858000" y="6547104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Performance Overview</a:t>
            </a:r>
            <a:endParaRPr lang="en-US" sz="900" dirty="0"/>
          </a:p>
        </p:txBody>
      </p:sp>
      <p:sp>
        <p:nvSpPr>
          <p:cNvPr id="48" name="Text 38"/>
          <p:cNvSpPr/>
          <p:nvPr/>
        </p:nvSpPr>
        <p:spPr>
          <a:xfrm>
            <a:off x="11521440" y="6547104"/>
            <a:ext cx="320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graphicFrame>
        <p:nvGraphicFramePr>
          <p:cNvPr id="53" name="Table 52">
            <a:extLst>
              <a:ext uri="{FF2B5EF4-FFF2-40B4-BE49-F238E27FC236}">
                <a16:creationId xmlns:a16="http://schemas.microsoft.com/office/drawing/2014/main" id="{F153EBAF-ACEF-1661-2362-B53BFDFC2A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0734582"/>
              </p:ext>
            </p:extLst>
          </p:nvPr>
        </p:nvGraphicFramePr>
        <p:xfrm>
          <a:off x="3255263" y="1909470"/>
          <a:ext cx="3791560" cy="16983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7890">
                  <a:extLst>
                    <a:ext uri="{9D8B030D-6E8A-4147-A177-3AD203B41FA5}">
                      <a16:colId xmlns:a16="http://schemas.microsoft.com/office/drawing/2014/main" val="1577762914"/>
                    </a:ext>
                  </a:extLst>
                </a:gridCol>
                <a:gridCol w="947890">
                  <a:extLst>
                    <a:ext uri="{9D8B030D-6E8A-4147-A177-3AD203B41FA5}">
                      <a16:colId xmlns:a16="http://schemas.microsoft.com/office/drawing/2014/main" val="216908285"/>
                    </a:ext>
                  </a:extLst>
                </a:gridCol>
                <a:gridCol w="947890">
                  <a:extLst>
                    <a:ext uri="{9D8B030D-6E8A-4147-A177-3AD203B41FA5}">
                      <a16:colId xmlns:a16="http://schemas.microsoft.com/office/drawing/2014/main" val="3587796527"/>
                    </a:ext>
                  </a:extLst>
                </a:gridCol>
                <a:gridCol w="947890">
                  <a:extLst>
                    <a:ext uri="{9D8B030D-6E8A-4147-A177-3AD203B41FA5}">
                      <a16:colId xmlns:a16="http://schemas.microsoft.com/office/drawing/2014/main" val="878139356"/>
                    </a:ext>
                  </a:extLst>
                </a:gridCol>
              </a:tblGrid>
              <a:tr h="2810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 Range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Time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7931311"/>
                  </a:ext>
                </a:extLst>
              </a:tr>
              <a:tr h="281057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 Unicode MS"/>
                        </a:rPr>
                        <a:t>fxg_fac_enti_bill_mth_hist</a:t>
                      </a:r>
                      <a:endParaRPr lang="en-IN" sz="900" b="0" i="0" u="none" strike="noStrike" dirty="0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95250" marR="6350" marT="6350" marB="0"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201701–202604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1d 1h 30m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80138204"/>
                  </a:ext>
                </a:extLst>
              </a:tr>
              <a:tr h="281057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 Unicode MS"/>
                        </a:rPr>
                        <a:t>fxg_ctry_enti_bill_mth_hist</a:t>
                      </a:r>
                      <a:endParaRPr lang="en-IN" sz="1000" b="0" i="0" u="none" strike="noStrike" dirty="0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95250" marR="6350" marT="6350" marB="0"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201901–202604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1d 8h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4681270"/>
                  </a:ext>
                </a:extLst>
              </a:tr>
              <a:tr h="281057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 Unicode MS"/>
                        </a:rPr>
                        <a:t>fxg_glbl_enti_bill_mth_hist</a:t>
                      </a:r>
                      <a:endParaRPr lang="en-IN" sz="1000" b="0" i="0" u="none" strike="noStrike" dirty="0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95250" marR="6350" marT="6350" marB="0"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202212–202604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5275120"/>
                  </a:ext>
                </a:extLst>
              </a:tr>
              <a:tr h="20236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241</a:t>
                      </a:r>
                      <a:endParaRPr lang="en-US" sz="95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3d 5h</a:t>
                      </a:r>
                      <a:endParaRPr lang="en-US" sz="95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6013726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36576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 Data Pipeline — Load Performance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365760" y="78638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02 · DETAILED BREAKDOWN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365760" y="1042416"/>
            <a:ext cx="1143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4D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Table-Level Detail &amp; Estimated Cost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365760" y="1463040"/>
            <a:ext cx="11430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table load results for the historical backfill, plus estimated compute cost for Cloud ADF vs. Cloud Python (Databricks)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365760" y="187452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D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MONTHLY-CADENCE TABLES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490335"/>
              </p:ext>
            </p:extLst>
          </p:nvPr>
        </p:nvGraphicFramePr>
        <p:xfrm>
          <a:off x="365760" y="2167128"/>
          <a:ext cx="9628632" cy="1478280"/>
        </p:xfrm>
        <a:graphic>
          <a:graphicData uri="http://schemas.openxmlformats.org/drawingml/2006/table">
            <a:tbl>
              <a:tblPr/>
              <a:tblGrid>
                <a:gridCol w="2788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18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22C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ADF — Load Range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22C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ADF — Months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22C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ADF — Time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22C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— Load Range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22C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— Months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22C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— Time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22C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 Unicode MS"/>
                        </a:rPr>
                        <a:t>fxg_fac_enti_bill_mth_hist</a:t>
                      </a:r>
                      <a:endParaRPr lang="en-IN" sz="1000" b="0" i="0" u="none" strike="noStrike" dirty="0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95250" marR="6350" marT="6350" marB="0"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201701–202604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1d 1h 30m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201701–202607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 min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000" b="0" i="0" u="none" strike="noStrike">
                          <a:solidFill>
                            <a:srgbClr val="000000"/>
                          </a:solidFill>
                          <a:effectLst/>
                          <a:latin typeface="Arial Unicode MS"/>
                        </a:rPr>
                        <a:t>fxg_ctry_enti_bill_mth_hist</a:t>
                      </a:r>
                    </a:p>
                  </a:txBody>
                  <a:tcPr marL="95250" marR="6350" marT="6350" marB="0"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201901–202604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1d 8h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201701–202607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 min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 Unicode MS"/>
                        </a:rPr>
                        <a:t>fxg_glbl_enti_bill_mth_hist</a:t>
                      </a:r>
                      <a:endParaRPr lang="en-IN" sz="1000" b="0" i="0" u="none" strike="noStrike" dirty="0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95250" marR="6350" marT="6350" marB="0"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202212–202604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201701–202607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 min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148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148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148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3d 5h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148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148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148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 min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148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365760" y="364845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D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DAILY-CADENCE TABLES</a:t>
            </a:r>
            <a:endParaRPr lang="en-US" sz="1250" dirty="0"/>
          </a:p>
        </p:txBody>
      </p:sp>
      <p:graphicFrame>
        <p:nvGraphicFramePr>
          <p:cNvPr id="10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941064"/>
          <a:ext cx="9628632" cy="1203960"/>
        </p:xfrm>
        <a:graphic>
          <a:graphicData uri="http://schemas.openxmlformats.org/drawingml/2006/table">
            <a:tbl>
              <a:tblPr/>
              <a:tblGrid>
                <a:gridCol w="2788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18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22C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ADF — Load Range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22C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ADF — Months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22C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ADF — Time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22C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— Load Range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22C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— Months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22C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— Time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22C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FXG_FAC_ENTI_BILL_DLY_HIST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202205–202604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1d 14h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202305–202607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 min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FXG_glbl_enti_BILL_DLY_HIST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202205–202604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1d 10h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202305–202607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min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148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148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148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days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148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148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148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min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148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Text 6"/>
          <p:cNvSpPr/>
          <p:nvPr/>
        </p:nvSpPr>
        <p:spPr>
          <a:xfrm>
            <a:off x="365760" y="514807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D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COST — DAILY HISTORICAL BACKFILL</a:t>
            </a:r>
            <a:endParaRPr lang="en-US" sz="1250" dirty="0"/>
          </a:p>
        </p:txBody>
      </p:sp>
      <p:sp>
        <p:nvSpPr>
          <p:cNvPr id="12" name="Shape 7"/>
          <p:cNvSpPr/>
          <p:nvPr/>
        </p:nvSpPr>
        <p:spPr>
          <a:xfrm>
            <a:off x="365760" y="5458968"/>
            <a:ext cx="5602072" cy="896112"/>
          </a:xfrm>
          <a:prstGeom prst="roundRect">
            <a:avLst>
              <a:gd name="adj" fmla="val 8163"/>
            </a:avLst>
          </a:prstGeom>
          <a:solidFill>
            <a:srgbClr val="F6F2FA"/>
          </a:solidFill>
          <a:ln w="12700">
            <a:solidFill>
              <a:srgbClr val="E0D7E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603504" y="5687568"/>
            <a:ext cx="438912" cy="438912"/>
          </a:xfrm>
          <a:prstGeom prst="ellipse">
            <a:avLst/>
          </a:prstGeom>
          <a:solidFill>
            <a:srgbClr val="7D22C3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4" name="Image 1" descr="/home/claude/icons/dolla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" y="5786323"/>
            <a:ext cx="241402" cy="24140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143000" y="5550408"/>
            <a:ext cx="285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ADF (Azure Data Factory)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1143000" y="5843016"/>
            <a:ext cx="285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(4 DIUs × 72 </a:t>
            </a:r>
            <a:r>
              <a:rPr lang="en-US" sz="900" dirty="0" err="1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hrs</a:t>
            </a: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 = 288 DIU-hrs × $0.25/DIU-</a:t>
            </a:r>
            <a:r>
              <a:rPr lang="en-US" sz="900" dirty="0" err="1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</a:t>
            </a:r>
            <a:endParaRPr lang="en-US" sz="900" dirty="0">
              <a:solidFill>
                <a:srgbClr val="4A4A4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Source: Microsoft Copilot est.</a:t>
            </a:r>
            <a:endParaRPr lang="en-US" sz="900" dirty="0"/>
          </a:p>
        </p:txBody>
      </p:sp>
      <p:sp>
        <p:nvSpPr>
          <p:cNvPr id="17" name="Text 11"/>
          <p:cNvSpPr/>
          <p:nvPr/>
        </p:nvSpPr>
        <p:spPr>
          <a:xfrm>
            <a:off x="4093312" y="5458968"/>
            <a:ext cx="1691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4D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$72</a:t>
            </a:r>
            <a:endParaRPr lang="en-US" sz="3200" dirty="0"/>
          </a:p>
        </p:txBody>
      </p:sp>
      <p:sp>
        <p:nvSpPr>
          <p:cNvPr id="18" name="Shape 12"/>
          <p:cNvSpPr/>
          <p:nvPr/>
        </p:nvSpPr>
        <p:spPr>
          <a:xfrm>
            <a:off x="6223864" y="5458968"/>
            <a:ext cx="5602072" cy="896112"/>
          </a:xfrm>
          <a:prstGeom prst="roundRect">
            <a:avLst>
              <a:gd name="adj" fmla="val 8163"/>
            </a:avLst>
          </a:prstGeom>
          <a:solidFill>
            <a:srgbClr val="4D148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Shape 13"/>
          <p:cNvSpPr/>
          <p:nvPr/>
        </p:nvSpPr>
        <p:spPr>
          <a:xfrm>
            <a:off x="6461608" y="5687568"/>
            <a:ext cx="438912" cy="438912"/>
          </a:xfrm>
          <a:prstGeom prst="ellipse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0" name="Image 2" descr="/home/claude/icons/dolla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0363" y="5786323"/>
            <a:ext cx="241402" cy="241402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001104" y="5550408"/>
            <a:ext cx="285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Python (Databricks, D16ds_v5)</a:t>
            </a:r>
            <a:endParaRPr lang="en-US" sz="1100" dirty="0"/>
          </a:p>
        </p:txBody>
      </p:sp>
      <p:sp>
        <p:nvSpPr>
          <p:cNvPr id="22" name="Text 15"/>
          <p:cNvSpPr/>
          <p:nvPr/>
        </p:nvSpPr>
        <p:spPr>
          <a:xfrm>
            <a:off x="7001104" y="5843016"/>
            <a:ext cx="285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FE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 × $25.62/hr (14-worker, on-demand)  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EFE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Source: Databricks Genie est.</a:t>
            </a:r>
            <a:endParaRPr lang="en-US" sz="900" dirty="0"/>
          </a:p>
        </p:txBody>
      </p:sp>
      <p:sp>
        <p:nvSpPr>
          <p:cNvPr id="23" name="Text 16"/>
          <p:cNvSpPr/>
          <p:nvPr/>
        </p:nvSpPr>
        <p:spPr>
          <a:xfrm>
            <a:off x="7001104" y="6062472"/>
            <a:ext cx="2858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E4D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Mid-tier (8 workers, spot ≈ $10.35/hr) would cost even less.</a:t>
            </a:r>
            <a:endParaRPr lang="en-US" sz="800" dirty="0"/>
          </a:p>
        </p:txBody>
      </p:sp>
      <p:sp>
        <p:nvSpPr>
          <p:cNvPr id="24" name="Text 17"/>
          <p:cNvSpPr/>
          <p:nvPr/>
        </p:nvSpPr>
        <p:spPr>
          <a:xfrm>
            <a:off x="9951415" y="5458968"/>
            <a:ext cx="1691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</a:t>
            </a:r>
            <a:endParaRPr lang="en-US" sz="3200" dirty="0"/>
          </a:p>
        </p:txBody>
      </p:sp>
      <p:sp>
        <p:nvSpPr>
          <p:cNvPr id="25" name="Text 18"/>
          <p:cNvSpPr/>
          <p:nvPr/>
        </p:nvSpPr>
        <p:spPr>
          <a:xfrm>
            <a:off x="365760" y="654710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FXG Data Pipeline — Load Performance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6858000" y="6547104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Detail &amp; Cost</a:t>
            </a:r>
            <a:endParaRPr lang="en-US" sz="900" dirty="0"/>
          </a:p>
        </p:txBody>
      </p:sp>
      <p:sp>
        <p:nvSpPr>
          <p:cNvPr id="27" name="Text 20"/>
          <p:cNvSpPr/>
          <p:nvPr/>
        </p:nvSpPr>
        <p:spPr>
          <a:xfrm>
            <a:off x="11521440" y="6547104"/>
            <a:ext cx="320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516</Words>
  <Application>Microsoft Office PowerPoint</Application>
  <PresentationFormat>Widescreen</PresentationFormat>
  <Paragraphs>138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Arial Unicode MS</vt:lpstr>
      <vt:lpstr>Calibri</vt:lpstr>
      <vt:lpstr>Office Theme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Shubham Jaiswal</cp:lastModifiedBy>
  <cp:revision>2</cp:revision>
  <dcterms:created xsi:type="dcterms:W3CDTF">2026-08-06T07:06:40Z</dcterms:created>
  <dcterms:modified xsi:type="dcterms:W3CDTF">2026-08-06T07:34:55Z</dcterms:modified>
</cp:coreProperties>
</file>