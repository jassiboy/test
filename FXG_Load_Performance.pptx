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2.png"/><Relationship Id="rId6" Type="http://schemas.openxmlformats.org/officeDocument/2006/relationships/image" Target="../media/image-1-3.png"/><Relationship Id="rId7" Type="http://schemas.openxmlformats.org/officeDocument/2006/relationships/image" Target="../media/image-1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head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FXG Data Pipeline — Load Performance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6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LOAD TIME COMPARISON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1042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Daily Load — On-Prem vs. Cloud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1463040"/>
            <a:ext cx="11430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 load time across three approaches: on-prem MKVW, Azure Data Factory (ADF), and native Python on cloud (Azure/GCP)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5760" y="1810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LOAD  ·  time per table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2084832"/>
            <a:ext cx="3649370" cy="1115568"/>
          </a:xfrm>
          <a:prstGeom prst="roundRect">
            <a:avLst>
              <a:gd name="adj" fmla="val 6557"/>
            </a:avLst>
          </a:prstGeom>
          <a:solidFill>
            <a:srgbClr val="F6F2FA"/>
          </a:solidFill>
          <a:ln w="12700">
            <a:solidFill>
              <a:srgbClr val="E0D7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" y="2212848"/>
            <a:ext cx="402336" cy="402336"/>
          </a:xfrm>
          <a:prstGeom prst="ellipse">
            <a:avLst/>
          </a:prstGeom>
          <a:solidFill>
            <a:srgbClr val="7D22C3"/>
          </a:solidFill>
          <a:ln/>
        </p:spPr>
      </p:sp>
      <p:pic>
        <p:nvPicPr>
          <p:cNvPr id="10" name="Image 1" descr="/home/claude/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2" y="2303374"/>
            <a:ext cx="221285" cy="2212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231136"/>
            <a:ext cx="2780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(MKVW)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2596896"/>
            <a:ext cx="3283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271162" y="2084832"/>
            <a:ext cx="3649370" cy="1115568"/>
          </a:xfrm>
          <a:prstGeom prst="roundRect">
            <a:avLst>
              <a:gd name="adj" fmla="val 6557"/>
            </a:avLst>
          </a:prstGeom>
          <a:solidFill>
            <a:srgbClr val="F6F2FA"/>
          </a:solidFill>
          <a:ln w="12700">
            <a:solidFill>
              <a:srgbClr val="E0D7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90618" y="2212848"/>
            <a:ext cx="402336" cy="402336"/>
          </a:xfrm>
          <a:prstGeom prst="ellipse">
            <a:avLst/>
          </a:prstGeom>
          <a:solidFill>
            <a:srgbClr val="7D22C3"/>
          </a:solidFill>
          <a:ln/>
        </p:spPr>
      </p:sp>
      <p:pic>
        <p:nvPicPr>
          <p:cNvPr id="15" name="Image 2" descr="/home/claude/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2303374"/>
            <a:ext cx="221285" cy="2212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84394" y="2231136"/>
            <a:ext cx="2780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(Azure ADF)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454042" y="2596896"/>
            <a:ext cx="32836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4454042" y="2999232"/>
            <a:ext cx="3283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table / month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176565" y="2084832"/>
            <a:ext cx="3649370" cy="1115568"/>
          </a:xfrm>
          <a:prstGeom prst="roundRect">
            <a:avLst>
              <a:gd name="adj" fmla="val 6557"/>
            </a:avLst>
          </a:prstGeom>
          <a:solidFill>
            <a:srgbClr val="4D148C"/>
          </a:solidFill>
          <a:ln/>
        </p:spPr>
      </p:sp>
      <p:sp>
        <p:nvSpPr>
          <p:cNvPr id="20" name="Shape 15"/>
          <p:cNvSpPr/>
          <p:nvPr/>
        </p:nvSpPr>
        <p:spPr>
          <a:xfrm>
            <a:off x="8396021" y="2212848"/>
            <a:ext cx="402336" cy="402336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21" name="Image 3" descr="/home/claude/icons/z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546" y="2303374"/>
            <a:ext cx="221285" cy="2212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89797" y="2231136"/>
            <a:ext cx="2780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(Python)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359445" y="2596896"/>
            <a:ext cx="32836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 sec</a:t>
            </a:r>
            <a:endParaRPr lang="en-US" sz="2300" dirty="0"/>
          </a:p>
        </p:txBody>
      </p:sp>
      <p:sp>
        <p:nvSpPr>
          <p:cNvPr id="24" name="Text 18"/>
          <p:cNvSpPr/>
          <p:nvPr/>
        </p:nvSpPr>
        <p:spPr>
          <a:xfrm>
            <a:off x="8359445" y="2999232"/>
            <a:ext cx="3283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E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table / month  ·  fastest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65760" y="34015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LOAD  ·  time per month of refresh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365760" y="3675888"/>
            <a:ext cx="3649370" cy="1115568"/>
          </a:xfrm>
          <a:prstGeom prst="roundRect">
            <a:avLst>
              <a:gd name="adj" fmla="val 6557"/>
            </a:avLst>
          </a:prstGeom>
          <a:solidFill>
            <a:srgbClr val="F6F2FA"/>
          </a:solidFill>
          <a:ln w="12700">
            <a:solidFill>
              <a:srgbClr val="E0D7E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85216" y="3803904"/>
            <a:ext cx="402336" cy="402336"/>
          </a:xfrm>
          <a:prstGeom prst="ellipse">
            <a:avLst/>
          </a:prstGeom>
          <a:solidFill>
            <a:srgbClr val="7D22C3"/>
          </a:solidFill>
          <a:ln/>
        </p:spPr>
      </p:sp>
      <p:pic>
        <p:nvPicPr>
          <p:cNvPr id="28" name="Image 4" descr="/home/claude/icons/serv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2" y="3894430"/>
            <a:ext cx="221285" cy="22128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78992" y="3822192"/>
            <a:ext cx="2780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(MKVW)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48640" y="4169664"/>
            <a:ext cx="32836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min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457200" y="4553712"/>
            <a:ext cx="34664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FXG ground 20–30 min • smartpost 15–20 min</a:t>
            </a:r>
            <a:endParaRPr lang="en-US" sz="750" dirty="0"/>
          </a:p>
        </p:txBody>
      </p:sp>
      <p:sp>
        <p:nvSpPr>
          <p:cNvPr id="32" name="Shape 25"/>
          <p:cNvSpPr/>
          <p:nvPr/>
        </p:nvSpPr>
        <p:spPr>
          <a:xfrm>
            <a:off x="4271162" y="3675888"/>
            <a:ext cx="3649370" cy="1115568"/>
          </a:xfrm>
          <a:prstGeom prst="roundRect">
            <a:avLst>
              <a:gd name="adj" fmla="val 6557"/>
            </a:avLst>
          </a:prstGeom>
          <a:solidFill>
            <a:srgbClr val="F6F2FA"/>
          </a:solidFill>
          <a:ln w="12700">
            <a:solidFill>
              <a:srgbClr val="E0D7EC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490618" y="3803904"/>
            <a:ext cx="402336" cy="402336"/>
          </a:xfrm>
          <a:prstGeom prst="ellipse">
            <a:avLst/>
          </a:prstGeom>
          <a:solidFill>
            <a:srgbClr val="7D22C3"/>
          </a:solidFill>
          <a:ln/>
        </p:spPr>
      </p:sp>
      <p:pic>
        <p:nvPicPr>
          <p:cNvPr id="34" name="Image 5" descr="/home/claude/icons/clou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3894430"/>
            <a:ext cx="221285" cy="22128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984394" y="3822192"/>
            <a:ext cx="2780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(Azure ADF)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454042" y="4187952"/>
            <a:ext cx="32836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hrs</a:t>
            </a:r>
            <a:endParaRPr lang="en-US" sz="2300" dirty="0"/>
          </a:p>
        </p:txBody>
      </p:sp>
      <p:sp>
        <p:nvSpPr>
          <p:cNvPr id="37" name="Text 29"/>
          <p:cNvSpPr/>
          <p:nvPr/>
        </p:nvSpPr>
        <p:spPr>
          <a:xfrm>
            <a:off x="4454042" y="4590288"/>
            <a:ext cx="3283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of refresh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8176565" y="3675888"/>
            <a:ext cx="3649370" cy="1115568"/>
          </a:xfrm>
          <a:prstGeom prst="roundRect">
            <a:avLst>
              <a:gd name="adj" fmla="val 6557"/>
            </a:avLst>
          </a:prstGeom>
          <a:solidFill>
            <a:srgbClr val="4D148C"/>
          </a:solidFill>
          <a:ln/>
        </p:spPr>
      </p:sp>
      <p:sp>
        <p:nvSpPr>
          <p:cNvPr id="39" name="Shape 31"/>
          <p:cNvSpPr/>
          <p:nvPr/>
        </p:nvSpPr>
        <p:spPr>
          <a:xfrm>
            <a:off x="8396021" y="3803904"/>
            <a:ext cx="402336" cy="402336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40" name="Image 6" descr="/home/claude/icons/zap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6546" y="3894430"/>
            <a:ext cx="221285" cy="221285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889797" y="3822192"/>
            <a:ext cx="2780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(Python)</a:t>
            </a:r>
            <a:endParaRPr lang="en-US" sz="1150" dirty="0"/>
          </a:p>
        </p:txBody>
      </p:sp>
      <p:sp>
        <p:nvSpPr>
          <p:cNvPr id="42" name="Text 33"/>
          <p:cNvSpPr/>
          <p:nvPr/>
        </p:nvSpPr>
        <p:spPr>
          <a:xfrm>
            <a:off x="8359445" y="4187952"/>
            <a:ext cx="32836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 sec</a:t>
            </a:r>
            <a:endParaRPr lang="en-US" sz="2300" dirty="0"/>
          </a:p>
        </p:txBody>
      </p:sp>
      <p:sp>
        <p:nvSpPr>
          <p:cNvPr id="43" name="Text 34"/>
          <p:cNvSpPr/>
          <p:nvPr/>
        </p:nvSpPr>
        <p:spPr>
          <a:xfrm>
            <a:off x="8359445" y="4590288"/>
            <a:ext cx="3283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E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 ·  fastest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365760" y="50109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HISTORICAL BACKFILL — TOTALS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0"/>
          <a:ext cx="11460175" cy="850392"/>
        </p:xfrm>
        <a:graphic>
          <a:graphicData uri="http://schemas.openxmlformats.org/drawingml/2006/table">
            <a:tbl>
              <a:tblPr/>
              <a:tblGrid>
                <a:gridCol w="3230575"/>
                <a:gridCol w="2057400"/>
                <a:gridCol w="2057400"/>
                <a:gridCol w="2057400"/>
                <a:gridCol w="20574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Job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ADF — Months Loaded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ADF — Time Taken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Python — Months Loaded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Python — Time Taken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Monthly-cadence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D14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D14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5hr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Daily-cadence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D14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D14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</a:tr>
            </a:tbl>
          </a:graphicData>
        </a:graphic>
      </p:graphicFrame>
      <p:sp>
        <p:nvSpPr>
          <p:cNvPr id="46" name="Text 36"/>
          <p:cNvSpPr/>
          <p:nvPr/>
        </p:nvSpPr>
        <p:spPr>
          <a:xfrm>
            <a:off x="365760" y="65471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FXG Data Pipeline — Load Performance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6858000" y="65471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Performance Overview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521440" y="654710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header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FXG Data Pipeline — Load Performance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6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DETAILED BREAKDOWN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1042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Table-Level Detail &amp; Estimated Cost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1463040"/>
            <a:ext cx="11430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table load results for the historical backfill, plus estimated compute cost for Cloud ADF vs. Cloud Python (Databricks)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5760" y="18745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MONTHLY-CADENCE TABLES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67128"/>
          <a:ext cx="11460175" cy="1371600"/>
        </p:xfrm>
        <a:graphic>
          <a:graphicData uri="http://schemas.openxmlformats.org/drawingml/2006/table">
            <a:tbl>
              <a:tblPr/>
              <a:tblGrid>
                <a:gridCol w="2788920"/>
                <a:gridCol w="1554480"/>
                <a:gridCol w="868680"/>
                <a:gridCol w="1051560"/>
                <a:gridCol w="1554480"/>
                <a:gridCol w="868680"/>
                <a:gridCol w="9418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 — Load 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 — Months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 —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— Load 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— Months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—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FXG_glbl_enti_BILL_mth_HIST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201701–202604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 1h 30m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201701–202607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FXG_FAC_ENTI_BILL_MTH_HIST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201901–202604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 8h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201701–202607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FXG_CTRY_ENTI_BILL_MTH_HIST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202212–202604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201701–202607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5h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3648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DAILY-CADENCE TABLES</a:t>
            </a:r>
            <a:endParaRPr lang="en-US" sz="125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41064"/>
          <a:ext cx="11460175" cy="1097280"/>
        </p:xfrm>
        <a:graphic>
          <a:graphicData uri="http://schemas.openxmlformats.org/drawingml/2006/table">
            <a:tbl>
              <a:tblPr/>
              <a:tblGrid>
                <a:gridCol w="2788920"/>
                <a:gridCol w="1554480"/>
                <a:gridCol w="868680"/>
                <a:gridCol w="1051560"/>
                <a:gridCol w="1554480"/>
                <a:gridCol w="868680"/>
                <a:gridCol w="9418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 — Load 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 — Months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 —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— Load 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— Months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—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FXG_FAC_ENTI_BILL_DLY_HIST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202205–202604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 14h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202305–202607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FXG_glbl_enti_BILL_DLY_HIST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202205–202604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 10h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202305–202607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365760" y="51480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— DAILY HISTORICAL BACKFILL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365760" y="5458968"/>
            <a:ext cx="5602072" cy="896112"/>
          </a:xfrm>
          <a:prstGeom prst="roundRect">
            <a:avLst>
              <a:gd name="adj" fmla="val 8163"/>
            </a:avLst>
          </a:prstGeom>
          <a:solidFill>
            <a:srgbClr val="F6F2FA"/>
          </a:solidFill>
          <a:ln w="12700">
            <a:solidFill>
              <a:srgbClr val="E0D7E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03504" y="5687568"/>
            <a:ext cx="438912" cy="438912"/>
          </a:xfrm>
          <a:prstGeom prst="ellipse">
            <a:avLst/>
          </a:prstGeom>
          <a:solidFill>
            <a:srgbClr val="7D22C3"/>
          </a:solidFill>
          <a:ln/>
        </p:spPr>
      </p:sp>
      <p:pic>
        <p:nvPicPr>
          <p:cNvPr id="14" name="Image 1" descr="/home/claude/icons/doll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5786323"/>
            <a:ext cx="241402" cy="2414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5550408"/>
            <a:ext cx="285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ADF (Azure Data Factory)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143000" y="5843016"/>
            <a:ext cx="285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DIU-hrs × $0.25/DIU-hr  (4 DIUs × 72 hrs)  •  Source: Microsoft Copilot est.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4093312" y="5458968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</a:t>
            </a:r>
            <a:endParaRPr lang="en-US" sz="3200" dirty="0"/>
          </a:p>
        </p:txBody>
      </p:sp>
      <p:sp>
        <p:nvSpPr>
          <p:cNvPr id="18" name="Shape 12"/>
          <p:cNvSpPr/>
          <p:nvPr/>
        </p:nvSpPr>
        <p:spPr>
          <a:xfrm>
            <a:off x="6223864" y="5458968"/>
            <a:ext cx="5602072" cy="896112"/>
          </a:xfrm>
          <a:prstGeom prst="roundRect">
            <a:avLst>
              <a:gd name="adj" fmla="val 8163"/>
            </a:avLst>
          </a:prstGeom>
          <a:solidFill>
            <a:srgbClr val="4D148C"/>
          </a:solidFill>
          <a:ln/>
        </p:spPr>
      </p:sp>
      <p:sp>
        <p:nvSpPr>
          <p:cNvPr id="19" name="Shape 13"/>
          <p:cNvSpPr/>
          <p:nvPr/>
        </p:nvSpPr>
        <p:spPr>
          <a:xfrm>
            <a:off x="6461608" y="5687568"/>
            <a:ext cx="438912" cy="438912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20" name="Image 2" descr="/home/claude/icons/doll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363" y="5786323"/>
            <a:ext cx="241402" cy="24140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01104" y="5550408"/>
            <a:ext cx="285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Python (Databricks, D16ds_v5)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7001104" y="5843016"/>
            <a:ext cx="285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E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× $25.62/hr (14-worker, on-demand)  •  Source: Databricks Genie est.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7001104" y="6062472"/>
            <a:ext cx="2858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4D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(8 workers, spot ≈ $10.35/hr) would cost even less.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9951415" y="5458968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</a:t>
            </a:r>
            <a:endParaRPr lang="en-US" sz="3200" dirty="0"/>
          </a:p>
        </p:txBody>
      </p:sp>
      <p:sp>
        <p:nvSpPr>
          <p:cNvPr id="25" name="Text 18"/>
          <p:cNvSpPr/>
          <p:nvPr/>
        </p:nvSpPr>
        <p:spPr>
          <a:xfrm>
            <a:off x="365760" y="65471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FXG Data Pipeline — Load Performance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6858000" y="65471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Detail &amp; Cost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521440" y="654710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2026-08-06T07:06:40Z</dcterms:created>
  <dcterms:modified xsi:type="dcterms:W3CDTF">2026-08-06T07:06:40Z</dcterms:modified>
</cp:coreProperties>
</file>