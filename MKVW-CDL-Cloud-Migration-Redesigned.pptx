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/ month</c:v>
                </c:pt>
              </c:strCache>
            </c:strRef>
          </c:tx>
          <c:spPr>
            <a:solidFill>
              <a:srgbClr val="7D22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D14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CDL (Ground+SP)</c:v>
                  </c:pt>
                  <c:pt idx="1">
                    <c:v>FXG Ground</c:v>
                  </c:pt>
                  <c:pt idx="2">
                    <c:v>FXG Smartpost</c:v>
                  </c:pt>
                  <c:pt idx="3">
                    <c:v>MKVW→Azure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25</c:v>
                </c:pt>
                <c:pt idx="2">
                  <c:v>17.5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D148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DC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platform migrating on-prem MKVW fact processing to a metadata-driven cloud data lake.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167128"/>
            <a:ext cx="11365992" cy="414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7EC"/>
            </a:solidFill>
            <a:prstDash val="solid"/>
          </a:ln>
          <a:effectLst>
            <a:outerShdw sx="100000" sy="100000" kx="0" ky="0" algn="bl" rotWithShape="0" blurRad="76200" dist="25400" dir="5400000">
              <a:srgbClr val="B9A8CC">
                <a:alpha val="35000"/>
              </a:srgbClr>
            </a:outerShdw>
          </a:effectLst>
        </p:spPr>
      </p:sp>
      <p:pic>
        <p:nvPicPr>
          <p:cNvPr id="8" name="Image 0" descr="unpacked/ppt/media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212848"/>
            <a:ext cx="11274552" cy="40507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Cloud Data Lake (CDL) target-state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FEATURES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Metadata-Driven ETL Configuration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configuration table drives every load process end to end — no hard-coded pipeline logic per 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40864"/>
            <a:ext cx="420624" cy="420624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8" name="Image 0" descr="icon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50" y="2441814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226771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table_id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42416" y="2569464"/>
            <a:ext cx="4855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target_table + load_process, so multiple processes can load the same target table without colliding.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57200" y="3758184"/>
            <a:ext cx="420624" cy="420624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12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0" y="3859134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42416" y="368503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lineage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42416" y="3986784"/>
            <a:ext cx="4855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source_tables captures every upstream table feeding the load for traceability.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457200" y="5175504"/>
            <a:ext cx="420624" cy="420624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6" name="Image 2" descr="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50" y="5276454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510235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incremental cutoff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042416" y="5404104"/>
            <a:ext cx="4855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Truncate-and-load currently runs on the 9th of each month, configurable per table as needs change.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2340864"/>
            <a:ext cx="420624" cy="420624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20" name="Image 3" descr="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150" y="2441814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57416" y="226771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column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757416" y="2569464"/>
            <a:ext cx="4855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incremental progress today and is designed in for future watermark-based loading.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6172200" y="3758184"/>
            <a:ext cx="420624" cy="420624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24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150" y="3859134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57416" y="368503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DQ rules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757416" y="3986784"/>
            <a:ext cx="4855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rules per table, e.g. {"dq_rule":"dq_net_rev","error_threshold_pct":0.0}, validated on every load.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6172200" y="5175504"/>
            <a:ext cx="420624" cy="420624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28" name="Image 5" descr="icons/togg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150" y="5276454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57416" y="510235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on/off switch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6757416" y="5404104"/>
            <a:ext cx="4855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dq_status toggles validation per table, independent of the pipeline logic.</a:t>
            </a:r>
            <a:endParaRPr lang="en-US" sz="1080" dirty="0"/>
          </a:p>
        </p:txBody>
      </p:sp>
      <p:sp>
        <p:nvSpPr>
          <p:cNvPr id="31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Configuration Table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FEATURES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Configuration Table — Sample Record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shown below; full table also carries target_system, ingestion_mode, load_frequency, last_watermark_value and partition_col.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50008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777240"/>
                <a:gridCol w="2651760"/>
                <a:gridCol w="2788920"/>
                <a:gridCol w="685800"/>
                <a:gridCol w="1051560"/>
                <a:gridCol w="960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table_id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target_table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load_process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cutoff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watermark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dq_status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fxg_fac_enti_bill_dly_hist_sp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ground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f6180854.fxg_fac_enti_bill_dly_hist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load_fxg_fac_enti_bill_dly_hist_sp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ratemnth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B24"/>
                          </a:solidFill>
                        </a:rPr>
                        <a:t>TRUE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fxg_fac_enti_bill_dly_hist_bill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ground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f6180854.fxg_fac_enti_bill_dly_hist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load_fxg_fac_enti_bill_dly_hist_bill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ratemnth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B24"/>
                          </a:solidFill>
                        </a:rPr>
                        <a:t>TRUE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2744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2FA"/>
          </a:solidFill>
          <a:ln w="9525">
            <a:solidFill>
              <a:srgbClr val="E0D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956048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10" name="Image 0" descr="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50657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882896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source_tables (all upstream lineage for this sample record)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325880" y="52120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ds_fcst_de_prod.fxg_acct_bill_dly_hist   ·   ds_fcst_de_prod.cust_se_seg_map   ·   ds_fcst_de_prod.cust_ce_seg_map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325880" y="559612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22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 rule example:  [{ "dq_rule": "dq_net_rev", "error_threshold_pct": 0.0 }]  — evaluated on every load when dq_status = TRUE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Configuration Table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FEATURES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Audit &amp; Monitoring Log Table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log table records every load process for audit and monitoring, at a granular, per-run level.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68296"/>
            <a:ext cx="420624" cy="420624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8" name="Image 0" descr="icons/magnif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50" y="2469246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3042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process detail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77640" y="2304288"/>
            <a:ext cx="7726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table_process is logged individually, down to run batch and attempt number.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209544"/>
            <a:ext cx="11247120" cy="0"/>
          </a:xfrm>
          <a:prstGeom prst="line">
            <a:avLst/>
          </a:prstGeom>
          <a:noFill/>
          <a:ln w="9525">
            <a:solidFill>
              <a:srgbClr val="E0D7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374136"/>
            <a:ext cx="420624" cy="420624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13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0" y="3475086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31012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Three-state status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3310128"/>
            <a:ext cx="7726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PARTIAL_SUCCESS / FAILED — partial success means only the failed months need reloading, not the whole batch.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4215384"/>
            <a:ext cx="11247120" cy="0"/>
          </a:xfrm>
          <a:prstGeom prst="line">
            <a:avLst/>
          </a:prstGeom>
          <a:noFill/>
          <a:ln w="9525">
            <a:solidFill>
              <a:srgbClr val="E0D7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4379976"/>
            <a:ext cx="420624" cy="420624"/>
          </a:xfrm>
          <a:prstGeom prst="ellipse">
            <a:avLst/>
          </a:prstGeom>
          <a:solidFill>
            <a:srgbClr val="4D148C"/>
          </a:solidFill>
          <a:ln/>
        </p:spPr>
      </p:sp>
      <p:pic>
        <p:nvPicPr>
          <p:cNvPr id="18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50" y="4480926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431596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results per run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77640" y="4315968"/>
            <a:ext cx="7726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carries its own dq_result, so quality outcomes are traceable at the load level.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5221224"/>
            <a:ext cx="11247120" cy="0"/>
          </a:xfrm>
          <a:prstGeom prst="line">
            <a:avLst/>
          </a:prstGeom>
          <a:noFill/>
          <a:ln w="9525">
            <a:solidFill>
              <a:srgbClr val="E0D7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5385816"/>
            <a:ext cx="420624" cy="420624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23" name="Image 3" descr="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50" y="5486766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532180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summary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977640" y="5321808"/>
            <a:ext cx="7726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month-by-month execution_summary breaks down rows written and status for every period in the batch.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Log Table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FEATURES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Log Table — Sample Run Record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shown below; full table also carries dataset_layer, watermark_start/end, started_at/completed_at and message.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50008"/>
          <a:ext cx="11247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960120"/>
                <a:gridCol w="1600200"/>
                <a:gridCol w="1234440"/>
                <a:gridCol w="1051560"/>
                <a:gridCol w="19659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table_id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months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(min)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rows written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dq_result</a:t>
                      </a:r>
                      <a:endParaRPr lang="en-US" sz="11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fxg_fac_enti_bill_dly_hist_sp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backfill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202501–202503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B24"/>
                          </a:solidFill>
                        </a:rPr>
                        <a:t>SUCCESS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48,623,344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SKIPPED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fxg_fac_enti_bill_dly_hist_bill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backfill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202501–202503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B24"/>
                          </a:solidFill>
                        </a:rPr>
                        <a:t>SUCCESS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299,000,000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SKIPPED</a:t>
                      </a:r>
                      <a:endParaRPr lang="en-US" sz="10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27448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6F2FA"/>
          </a:solidFill>
          <a:ln w="9525">
            <a:solidFill>
              <a:srgbClr val="E0D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937760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10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5047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882896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execution_summary — per-month breakdown (fxg_fac_enti_bill_dly_hist_sp)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5230368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148C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148C"/>
                          </a:solidFill>
                        </a:rPr>
                        <a:t>Loaded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148C"/>
                          </a:solidFill>
                        </a:rPr>
                        <a:t>Rows Written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148C"/>
                          </a:solidFill>
                        </a:rPr>
                        <a:t>DQ 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0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202501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true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16,413,339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SKIPPED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202502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true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14,860,042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SKIPPED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202503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true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17,349,963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</a:rPr>
                        <a:t>SKIPPED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9189720" y="55046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SKIPPED = no DQ rule assigned or dq_status inactive for this run.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Log Table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QA &amp; PERFORMANCE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Performance — 3-Month Load Comparison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CDL pipeline vs. traditional MKVW load path, ground + smartpost combined, 202501–202503.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4D148C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578608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9" name="Image 0" descr="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68833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154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CDL — acct to fact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3832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19 min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48640" y="40873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load 3 full months (~6–8 min/month)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2350008"/>
          <a:ext cx="772668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Traditional MKVW Load Path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/ month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FXG (ground)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D148C"/>
                          </a:solidFill>
                        </a:rPr>
                        <a:t>20 – 30 min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FXG (smartpost)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D148C"/>
                          </a:solidFill>
                        </a:rPr>
                        <a:t>15 – 20 min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MKVW fact → Azure fact (ADF / Ab Initio)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D148C"/>
                          </a:solidFill>
                        </a:rPr>
                        <a:t>~30 min</a:t>
                      </a:r>
                      <a:endParaRPr lang="en-US" sz="12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3977640" y="4242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reflect the legacy step-by-step MKVW pipeline; the new CDL path replaces these discrete hops with a single incremental run.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4818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Per-month load time — new vs. legacy path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5138928"/>
          <a:ext cx="5486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2"/>
          <p:cNvSpPr/>
          <p:nvPr/>
        </p:nvSpPr>
        <p:spPr>
          <a:xfrm>
            <a:off x="6263640" y="5138928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2FA"/>
          </a:solidFill>
          <a:ln w="9525">
            <a:solidFill>
              <a:srgbClr val="E0D7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92240" y="5358384"/>
            <a:ext cx="420624" cy="420624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19" name="Image 1" descr="icons/stopw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90" y="5459334"/>
            <a:ext cx="218724" cy="2187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53949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preview — full detail on next slide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92240" y="5852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</a:rPr>
              <a:t>3 years of data (Ground + Smartpost):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D148C"/>
                </a:solidFill>
              </a:rPr>
              <a:t>1 hr 28 min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</a:rPr>
              <a:t>MKVW fact → Azure fact (ADF / Ab Initio):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600"/>
                </a:solidFill>
              </a:rPr>
              <a:t>~40 hrs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Performance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QA &amp; PERFORMANCE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Stress Testing &amp; QA Validation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— 3 Years of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58568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4D148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87168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</p:sp>
      <p:pic>
        <p:nvPicPr>
          <p:cNvPr id="9" name="Image 0" descr="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59689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52374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CDL — acct to fact (Ground + Smartpost)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3172968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1 hr 28 min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57200" y="3877056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load 3 full years of history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270248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6F2FA"/>
          </a:solidFill>
          <a:ln w="9525">
            <a:solidFill>
              <a:srgbClr val="E0D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498848"/>
            <a:ext cx="420624" cy="420624"/>
          </a:xfrm>
          <a:prstGeom prst="ellipse">
            <a:avLst/>
          </a:prstGeom>
          <a:solidFill>
            <a:srgbClr val="7D22C3"/>
          </a:solidFill>
          <a:ln/>
        </p:spPr>
      </p:sp>
      <p:pic>
        <p:nvPicPr>
          <p:cNvPr id="15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70" y="4599798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45171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fact → Azure fact (ADF / Ab Initio)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71600" y="49103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600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~40 hrs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57200" y="5641848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CDL path completes the same 3-year backfill roughly 27× faster than the legacy ADF / Ab Initio route.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63640" y="1847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Validation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263640" y="2258568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0D7EC"/>
            </a:solidFill>
            <a:prstDash val="solid"/>
          </a:ln>
          <a:effectLst>
            <a:outerShdw sx="100000" sy="100000" kx="0" ky="0" algn="bl" rotWithShape="0" blurRad="63500" dist="25400" dir="5400000">
              <a:srgbClr val="B9A8CC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37960" y="2487168"/>
            <a:ext cx="502920" cy="502920"/>
          </a:xfrm>
          <a:prstGeom prst="ellipse">
            <a:avLst/>
          </a:prstGeom>
          <a:solidFill>
            <a:srgbClr val="196B24"/>
          </a:solidFill>
          <a:ln/>
        </p:spPr>
      </p:sp>
      <p:pic>
        <p:nvPicPr>
          <p:cNvPr id="22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2607869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23760" y="25328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 KPIs validated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537960" y="3273552"/>
            <a:ext cx="100584" cy="1005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5" name="Text 20"/>
          <p:cNvSpPr/>
          <p:nvPr/>
        </p:nvSpPr>
        <p:spPr>
          <a:xfrm>
            <a:off x="6812280" y="314553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and key business KPIs reconciled against the source for every loaded table.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537960" y="4050792"/>
            <a:ext cx="100584" cy="1005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7" name="Text 22"/>
          <p:cNvSpPr/>
          <p:nvPr/>
        </p:nvSpPr>
        <p:spPr>
          <a:xfrm>
            <a:off x="6812280" y="39227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runs (202501–202503) and 3-year stress test both completed with SUCCESS status end to end.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537960" y="4828032"/>
            <a:ext cx="100584" cy="1005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9" name="Text 24"/>
          <p:cNvSpPr/>
          <p:nvPr/>
        </p:nvSpPr>
        <p:spPr>
          <a:xfrm>
            <a:off x="6812280" y="470001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DQ rules are in place and ready to enforce thresholds as validation rules are rolled out per table.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Performance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2026-07-29T11:34:52Z</dcterms:created>
  <dcterms:modified xsi:type="dcterms:W3CDTF">2026-07-29T11:34:52Z</dcterms:modified>
</cp:coreProperties>
</file>