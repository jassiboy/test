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B66645-7B3F-4305-AC09-E3A86E21A937}" v="1" dt="2026-08-06T06:23:45.8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Jaiswal" userId="36bb2951-798e-4f0d-9613-eb629cc490d9" providerId="ADAL" clId="{C114CA1C-EC8F-48A1-8D5F-3FB3180028A2}"/>
    <pc:docChg chg="addSld delSld modSld">
      <pc:chgData name="Shubham Jaiswal" userId="36bb2951-798e-4f0d-9613-eb629cc490d9" providerId="ADAL" clId="{C114CA1C-EC8F-48A1-8D5F-3FB3180028A2}" dt="2026-08-06T06:23:50.227" v="2" actId="2696"/>
      <pc:docMkLst>
        <pc:docMk/>
      </pc:docMkLst>
      <pc:sldChg chg="new del">
        <pc:chgData name="Shubham Jaiswal" userId="36bb2951-798e-4f0d-9613-eb629cc490d9" providerId="ADAL" clId="{C114CA1C-EC8F-48A1-8D5F-3FB3180028A2}" dt="2026-08-06T06:23:50.227" v="2" actId="2696"/>
        <pc:sldMkLst>
          <pc:docMk/>
          <pc:sldMk cId="2437752316" sldId="256"/>
        </pc:sldMkLst>
      </pc:sldChg>
      <pc:sldChg chg="add setBg">
        <pc:chgData name="Shubham Jaiswal" userId="36bb2951-798e-4f0d-9613-eb629cc490d9" providerId="ADAL" clId="{C114CA1C-EC8F-48A1-8D5F-3FB3180028A2}" dt="2026-08-06T06:23:45.819" v="1"/>
        <pc:sldMkLst>
          <pc:docMk/>
          <pc:sldMk cId="0" sldId="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AC7FA-5278-42B8-84A8-4FCBF4F9E8A1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D006D-CB16-4696-8EFC-D8ECC24C31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432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12592-024E-4CE2-F2B3-2E55EBB88A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13D821-6801-5745-02CE-412E83098A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D06FD0-24E2-07CD-F2D3-A2748BDBE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73CE-ADA4-49B9-AEA4-AFF2D19D42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46232-2088-36A7-B0EF-74C0090AA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546D1-B903-7F96-8415-C6A6B7AE5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4C59-D761-424B-9756-D0BF5EA0E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268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B5E5B-EB92-3F19-9F28-532776BF6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FEF70-778B-6883-63ED-F8F026BEF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AB90F-0012-6E3B-696C-A44785F73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73CE-ADA4-49B9-AEA4-AFF2D19D42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C8A68-A7A7-91A2-A8BA-525910269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0BDC9-5FA6-A2E9-DE3A-F35393959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4C59-D761-424B-9756-D0BF5EA0E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7336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CB1DB-D5FA-9311-CCFD-8B5F5FC0D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237D8-9FDE-5AC7-D1CF-CD1B6DBB9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04977-AE06-A69A-CBA6-11FBF9F8D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73CE-ADA4-49B9-AEA4-AFF2D19D42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BD257-A878-F369-CF78-0F4EAF9F1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13294-384E-0641-9040-4FA48D4BC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4C59-D761-424B-9756-D0BF5EA0E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192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54D-3281-1C56-420B-E62387DF1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3500E-F92F-4EDF-5D9A-562F119273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306EA-12D7-8DC7-4922-E6CFAA6C9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1D4E7-2828-D9E7-8F0F-B83155F58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73CE-ADA4-49B9-AEA4-AFF2D19D42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2DF84B-DA4A-841A-1D3B-CD6EB076B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5C4B5-76E3-9081-C019-E60684420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4C59-D761-424B-9756-D0BF5EA0E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713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CAC56-9805-2B7C-3ECA-CBBF6AF3A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FB7D2-1A2D-848D-388E-729CB20B6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FC036-7FC4-B3D3-975F-9500113C4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4E8D7C-589A-9D52-51BA-A7CA235E7A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D66C56-3D2F-CE78-96A7-8D27792EAC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088B91-C88E-2B84-E84F-11C4DD375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73CE-ADA4-49B9-AEA4-AFF2D19D42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47E1A0-0756-A9BC-040B-F0E0F9847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E8830C-627F-FFB1-7D32-0384A0095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4C59-D761-424B-9756-D0BF5EA0E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2242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45361-2A87-6EFB-B0E4-97A374FE6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EF9EAD-26B4-F6C7-42CF-25000C3D6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73CE-ADA4-49B9-AEA4-AFF2D19D42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3126CC-51CE-4F43-DED4-803E9A1F4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206A05-F4E8-2157-C919-37228D4B0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4C59-D761-424B-9756-D0BF5EA0E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135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960196-0419-E0A7-63A7-14F3817C9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73CE-ADA4-49B9-AEA4-AFF2D19D42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2CC8-313B-754F-E8CB-24A610DA2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A0076-D100-C7E6-182C-631CEDAA0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4C59-D761-424B-9756-D0BF5EA0E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638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3A4B1-0035-1014-F7A6-FDDBAC9B2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B6DC7-054B-3868-D259-6F03031AD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8DE87B-A296-456E-18F9-5B3957B95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B62B1-8CE5-976F-0239-076CDB92D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73CE-ADA4-49B9-AEA4-AFF2D19D42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3225B9-18FF-544F-2F15-F9B20FA0D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716ED-D65C-7792-BD82-5E99676B7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4C59-D761-424B-9756-D0BF5EA0E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630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CC416-8004-1CE7-9FCF-58897FEB4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904F11-6E03-3E01-3159-C012EA780B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6CDADD-45EB-5CE5-A649-3C95279C1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58C1-13A2-A0E0-FFC8-9F42BA00D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73CE-ADA4-49B9-AEA4-AFF2D19D42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B0EB0-D075-E10B-21AC-A6ACD703F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7138F3-0827-1A39-7FED-26EF12A2E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4C59-D761-424B-9756-D0BF5EA0E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0639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7586A-7AD2-CF9A-48FB-77F1F35D4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7B86D-E78F-5754-F7D9-4FA3B0355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6A702-E98C-4857-2CF0-7DAB44872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73CE-ADA4-49B9-AEA4-AFF2D19D42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CC10C-3CB9-9E30-AA5C-592F781DD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A1BDD-D329-8D60-0256-AF196347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4C59-D761-424B-9756-D0BF5EA0E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466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6B485F-5382-BD74-4588-9A329E4C93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6100D-FB96-31FD-5656-B218F3844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052BF-0974-B903-78C4-5E19AC668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D73CE-ADA4-49B9-AEA4-AFF2D19D42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7B312-FDB5-7808-B19C-6906E869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63D0F-2DF5-B573-AEAF-989D4DACD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FC4C59-D761-424B-9756-D0BF5EA0E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596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0318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3950C2-CE6F-7CB6-4992-88D97C845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B1D60-C141-05E3-B32E-2C6FFE67D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E4DFA-C478-0948-B37E-40AF9C3578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FD73CE-ADA4-49B9-AEA4-AFF2D19D42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05B9B-B3DB-DB32-A098-E6BC7B6705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4034F-048E-1051-F3F4-C9AF34D74E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FC4C59-D761-424B-9756-D0BF5EA0E3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464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11247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MKVW CDL Cloud Migration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4152" y="658669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FF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QA &amp; PERFORMANCE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70916" y="877824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4D148C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Performance — 3-Month Load Comparison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87680" y="1323292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CDL pipeline vs. traditional MKVW load path, ground + smartpost combined, 202501–202503.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" y="1743916"/>
            <a:ext cx="3246120" cy="2148840"/>
          </a:xfrm>
          <a:prstGeom prst="roundRect">
            <a:avLst>
              <a:gd name="adj" fmla="val 4255"/>
            </a:avLst>
          </a:prstGeom>
          <a:solidFill>
            <a:srgbClr val="4D14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63524" y="1972516"/>
            <a:ext cx="457200" cy="457200"/>
          </a:xfrm>
          <a:prstGeom prst="ellipse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2082244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54836" y="1905917"/>
            <a:ext cx="1983587" cy="669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4D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CDL — acct to fact</a:t>
            </a:r>
            <a:r>
              <a:rPr kumimoji="0" lang="en-US" sz="1300" b="1" i="1" u="none" strike="noStrike" kern="1200" cap="none" spc="0" normalizeH="0" baseline="0" noProof="0" dirty="0">
                <a:ln>
                  <a:noFill/>
                </a:ln>
                <a:solidFill>
                  <a:srgbClr val="4A4A4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 algn="ctr">
              <a:buNone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ground + smartpost combined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470916" y="2587416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6-8 min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562356" y="338639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FE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load 3 full months (~took 19 min in total)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3961250" y="1710359"/>
          <a:ext cx="7726680" cy="2148840"/>
        </p:xfrm>
        <a:graphic>
          <a:graphicData uri="http://schemas.openxmlformats.org/drawingml/2006/table">
            <a:tbl>
              <a:tblPr/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Traditional MKVW Load Path</a:t>
                      </a:r>
                      <a:endParaRPr lang="en-US" sz="1200" dirty="0"/>
                    </a:p>
                  </a:txBody>
                  <a:tcPr marT="73152" marB="73152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Time / month</a:t>
                      </a:r>
                      <a:endParaRPr lang="en-US" sz="1200" dirty="0"/>
                    </a:p>
                  </a:txBody>
                  <a:tcPr marT="73152" marB="73152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22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</a:rPr>
                        <a:t>FXG (ground)</a:t>
                      </a:r>
                      <a:endParaRPr lang="en-US" sz="1200" dirty="0"/>
                    </a:p>
                  </a:txBody>
                  <a:tcPr marT="73152" marB="73152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D148C"/>
                          </a:solidFill>
                        </a:rPr>
                        <a:t>20 – 30 min</a:t>
                      </a:r>
                      <a:endParaRPr lang="en-US" sz="1200" dirty="0"/>
                    </a:p>
                  </a:txBody>
                  <a:tcPr marT="73152" marB="73152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</a:rPr>
                        <a:t>FXG (smartpost)</a:t>
                      </a:r>
                      <a:endParaRPr lang="en-US" sz="1200" dirty="0"/>
                    </a:p>
                  </a:txBody>
                  <a:tcPr marT="73152" marB="73152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D148C"/>
                          </a:solidFill>
                        </a:rPr>
                        <a:t>15 – 20 min</a:t>
                      </a:r>
                      <a:endParaRPr lang="en-US" sz="1200" dirty="0"/>
                    </a:p>
                  </a:txBody>
                  <a:tcPr marT="73152" marB="73152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4A4A"/>
                          </a:solidFill>
                        </a:rPr>
                        <a:t>MKVW fact → Azure fact (ADF / Ab Initio)</a:t>
                      </a:r>
                      <a:endParaRPr lang="en-US" sz="1200" dirty="0"/>
                    </a:p>
                  </a:txBody>
                  <a:tcPr marT="73152" marB="73152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D148C"/>
                          </a:solidFill>
                        </a:rPr>
                        <a:t>~30 min</a:t>
                      </a:r>
                      <a:endParaRPr lang="en-US" sz="1200" dirty="0"/>
                    </a:p>
                  </a:txBody>
                  <a:tcPr marT="73152" marB="73152" anchor="ctr">
                    <a:lnL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D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3977640" y="4242816"/>
            <a:ext cx="7726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MKVW CDL Cloud Migration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7159752" y="6510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Performance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41171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itle 2">
            <a:extLst>
              <a:ext uri="{FF2B5EF4-FFF2-40B4-BE49-F238E27FC236}">
                <a16:creationId xmlns:a16="http://schemas.microsoft.com/office/drawing/2014/main" id="{CCC71945-295B-F820-CFC7-D673ECA7D14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612949"/>
          </a:xfrm>
          <a:prstGeom prst="rect">
            <a:avLst/>
          </a:prstGeom>
          <a:gradFill>
            <a:gsLst>
              <a:gs pos="0">
                <a:srgbClr val="4D148C">
                  <a:alpha val="90000"/>
                </a:srgbClr>
              </a:gs>
              <a:gs pos="33000">
                <a:srgbClr val="7D22C3">
                  <a:lumMod val="100000"/>
                  <a:alpha val="90000"/>
                </a:srgbClr>
              </a:gs>
              <a:gs pos="100000">
                <a:srgbClr val="FF6600">
                  <a:alpha val="90000"/>
                </a:srgbClr>
              </a:gs>
            </a:gsLst>
            <a:lin ang="10800000" scaled="1"/>
          </a:gradFill>
        </p:spPr>
        <p:txBody>
          <a:bodyPr vert="horz" lIns="576072" tIns="0" rIns="54864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3800" b="0" i="0" kern="1200">
                <a:solidFill>
                  <a:schemeClr val="bg1"/>
                </a:solidFill>
                <a:latin typeface="FedEx Sans Light" panose="020B0403020203020204" pitchFamily="34" charset="0"/>
                <a:ea typeface="FedEx Sans Light" panose="020B0403020203020204" pitchFamily="34" charset="0"/>
                <a:cs typeface="FedEx Sans Light" panose="020B0403020203020204" pitchFamily="34" charset="0"/>
              </a:defRPr>
            </a:lvl1pPr>
          </a:lstStyle>
          <a:p>
            <a:pPr>
              <a:defRPr/>
            </a:pPr>
            <a:r>
              <a:rPr lang="en-US" sz="2400" b="1" dirty="0">
                <a:solidFill>
                  <a:sysClr val="window" lastClr="FFFFFF"/>
                </a:solidFill>
                <a:latin typeface="FedEx Sans"/>
                <a:ea typeface="FedEx Sans" panose="020B0603020203020204" pitchFamily="34" charset="0"/>
                <a:cs typeface="FedEx Sans" panose="020B0603020203020204" pitchFamily="34" charset="0"/>
              </a:rPr>
              <a:t>MKVW CDL Cloud Migration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FedEx Sans" panose="020B0603020203020204" pitchFamily="34" charset="0"/>
              <a:ea typeface="FedEx Sans" panose="020B0603020203020204" pitchFamily="34" charset="0"/>
              <a:cs typeface="FedEx Sans" panose="020B0603020203020204" pitchFamily="34" charset="0"/>
            </a:endParaRP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F854460D-77BB-8CB6-2BA6-F432B20C68DA}"/>
              </a:ext>
            </a:extLst>
          </p:cNvPr>
          <p:cNvSpPr/>
          <p:nvPr/>
        </p:nvSpPr>
        <p:spPr>
          <a:xfrm>
            <a:off x="457200" y="40896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D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— 3 Years of Data</a:t>
            </a:r>
            <a:endParaRPr lang="en-US" sz="1500" dirty="0"/>
          </a:p>
        </p:txBody>
      </p:sp>
      <p:sp>
        <p:nvSpPr>
          <p:cNvPr id="30" name="Shape 5">
            <a:extLst>
              <a:ext uri="{FF2B5EF4-FFF2-40B4-BE49-F238E27FC236}">
                <a16:creationId xmlns:a16="http://schemas.microsoft.com/office/drawing/2014/main" id="{5F76F6B8-F6C2-A4CC-C1F0-14831DF36A3F}"/>
              </a:ext>
            </a:extLst>
          </p:cNvPr>
          <p:cNvSpPr/>
          <p:nvPr/>
        </p:nvSpPr>
        <p:spPr>
          <a:xfrm>
            <a:off x="6155436" y="4519380"/>
            <a:ext cx="5464344" cy="1292193"/>
          </a:xfrm>
          <a:prstGeom prst="roundRect">
            <a:avLst>
              <a:gd name="adj" fmla="val 4878"/>
            </a:avLst>
          </a:prstGeom>
          <a:solidFill>
            <a:srgbClr val="4D148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6">
            <a:extLst>
              <a:ext uri="{FF2B5EF4-FFF2-40B4-BE49-F238E27FC236}">
                <a16:creationId xmlns:a16="http://schemas.microsoft.com/office/drawing/2014/main" id="{FB98AE2B-598C-1F3E-7180-732F4F37A549}"/>
              </a:ext>
            </a:extLst>
          </p:cNvPr>
          <p:cNvSpPr/>
          <p:nvPr/>
        </p:nvSpPr>
        <p:spPr>
          <a:xfrm>
            <a:off x="6401288" y="4813868"/>
            <a:ext cx="457200" cy="457200"/>
          </a:xfrm>
          <a:prstGeom prst="ellipse">
            <a:avLst/>
          </a:prstGeom>
          <a:solidFill>
            <a:srgbClr val="FF660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4" name="Image 0" descr="icons/cloud.png">
            <a:extLst>
              <a:ext uri="{FF2B5EF4-FFF2-40B4-BE49-F238E27FC236}">
                <a16:creationId xmlns:a16="http://schemas.microsoft.com/office/drawing/2014/main" id="{8A515307-7A76-84A8-CCA8-F41A1B295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016" y="4923596"/>
            <a:ext cx="237744" cy="237744"/>
          </a:xfrm>
          <a:prstGeom prst="rect">
            <a:avLst/>
          </a:prstGeom>
        </p:spPr>
      </p:pic>
      <p:sp>
        <p:nvSpPr>
          <p:cNvPr id="36" name="Text 7">
            <a:extLst>
              <a:ext uri="{FF2B5EF4-FFF2-40B4-BE49-F238E27FC236}">
                <a16:creationId xmlns:a16="http://schemas.microsoft.com/office/drawing/2014/main" id="{DC8E146D-B17F-F25A-5B4C-8A83CDFCEC77}"/>
              </a:ext>
            </a:extLst>
          </p:cNvPr>
          <p:cNvSpPr/>
          <p:nvPr/>
        </p:nvSpPr>
        <p:spPr>
          <a:xfrm>
            <a:off x="7024116" y="457855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4D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CDL — acct to fact (Ground + Smartpost)</a:t>
            </a:r>
            <a:endParaRPr lang="en-US" sz="1250" dirty="0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0E11C607-8EC7-B90F-10EB-A90B800345FF}"/>
              </a:ext>
            </a:extLst>
          </p:cNvPr>
          <p:cNvSpPr/>
          <p:nvPr/>
        </p:nvSpPr>
        <p:spPr>
          <a:xfrm>
            <a:off x="6109716" y="4844091"/>
            <a:ext cx="5440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2 </a:t>
            </a:r>
            <a:r>
              <a:rPr lang="en-US" sz="4000" b="1" dirty="0" err="1">
                <a:solidFill>
                  <a:srgbClr val="FFFFFF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hr</a:t>
            </a:r>
            <a:r>
              <a:rPr lang="en-US" sz="4000" b="1" dirty="0">
                <a:solidFill>
                  <a:srgbClr val="FFFFFF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 31 min</a:t>
            </a:r>
            <a:endParaRPr lang="en-US" sz="4000" dirty="0"/>
          </a:p>
        </p:txBody>
      </p:sp>
      <p:sp>
        <p:nvSpPr>
          <p:cNvPr id="40" name="Text 9">
            <a:extLst>
              <a:ext uri="{FF2B5EF4-FFF2-40B4-BE49-F238E27FC236}">
                <a16:creationId xmlns:a16="http://schemas.microsoft.com/office/drawing/2014/main" id="{EF72EA5C-FE87-C7A8-2AE4-EF3A664BBC99}"/>
              </a:ext>
            </a:extLst>
          </p:cNvPr>
          <p:cNvSpPr/>
          <p:nvPr/>
        </p:nvSpPr>
        <p:spPr>
          <a:xfrm>
            <a:off x="6109716" y="5505036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E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load 3 full years of history</a:t>
            </a:r>
            <a:endParaRPr lang="en-US" sz="1100" dirty="0"/>
          </a:p>
        </p:txBody>
      </p:sp>
      <p:sp>
        <p:nvSpPr>
          <p:cNvPr id="42" name="Shape 10">
            <a:extLst>
              <a:ext uri="{FF2B5EF4-FFF2-40B4-BE49-F238E27FC236}">
                <a16:creationId xmlns:a16="http://schemas.microsoft.com/office/drawing/2014/main" id="{0687A747-257D-583B-1F49-B2129566AA72}"/>
              </a:ext>
            </a:extLst>
          </p:cNvPr>
          <p:cNvSpPr/>
          <p:nvPr/>
        </p:nvSpPr>
        <p:spPr>
          <a:xfrm>
            <a:off x="454152" y="4519380"/>
            <a:ext cx="5440680" cy="1280160"/>
          </a:xfrm>
          <a:prstGeom prst="roundRect">
            <a:avLst>
              <a:gd name="adj" fmla="val 7143"/>
            </a:avLst>
          </a:prstGeom>
          <a:solidFill>
            <a:srgbClr val="F6F2FA"/>
          </a:solidFill>
          <a:ln w="9525">
            <a:solidFill>
              <a:srgbClr val="E0D7E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11">
            <a:extLst>
              <a:ext uri="{FF2B5EF4-FFF2-40B4-BE49-F238E27FC236}">
                <a16:creationId xmlns:a16="http://schemas.microsoft.com/office/drawing/2014/main" id="{ED04ABA0-116F-CADE-5B3D-0E3026929108}"/>
              </a:ext>
            </a:extLst>
          </p:cNvPr>
          <p:cNvSpPr/>
          <p:nvPr/>
        </p:nvSpPr>
        <p:spPr>
          <a:xfrm>
            <a:off x="714756" y="4897173"/>
            <a:ext cx="420624" cy="420624"/>
          </a:xfrm>
          <a:prstGeom prst="ellipse">
            <a:avLst/>
          </a:prstGeom>
          <a:solidFill>
            <a:srgbClr val="7D22C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Image 1" descr="icons/server.png">
            <a:extLst>
              <a:ext uri="{FF2B5EF4-FFF2-40B4-BE49-F238E27FC236}">
                <a16:creationId xmlns:a16="http://schemas.microsoft.com/office/drawing/2014/main" id="{16230BE0-BB57-506E-F007-8B57CD4270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706" y="4998123"/>
            <a:ext cx="218724" cy="218724"/>
          </a:xfrm>
          <a:prstGeom prst="rect">
            <a:avLst/>
          </a:prstGeom>
        </p:spPr>
      </p:pic>
      <p:sp>
        <p:nvSpPr>
          <p:cNvPr id="48" name="Text 12">
            <a:extLst>
              <a:ext uri="{FF2B5EF4-FFF2-40B4-BE49-F238E27FC236}">
                <a16:creationId xmlns:a16="http://schemas.microsoft.com/office/drawing/2014/main" id="{CFAADAF2-3332-0C7C-844C-891EDA8CB9C4}"/>
              </a:ext>
            </a:extLst>
          </p:cNvPr>
          <p:cNvSpPr/>
          <p:nvPr/>
        </p:nvSpPr>
        <p:spPr>
          <a:xfrm>
            <a:off x="1354836" y="4915461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MKVW fact → Azure fact (ADF / Ab Initio)</a:t>
            </a:r>
            <a:endParaRPr lang="en-US" sz="1200" dirty="0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76732B01-0C80-C752-90D1-3F546F503B0C}"/>
              </a:ext>
            </a:extLst>
          </p:cNvPr>
          <p:cNvSpPr/>
          <p:nvPr/>
        </p:nvSpPr>
        <p:spPr>
          <a:xfrm>
            <a:off x="1354836" y="5308653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6600"/>
                </a:solidFill>
                <a:latin typeface="FedEx Sans" pitchFamily="34" charset="0"/>
                <a:ea typeface="FedEx Sans" pitchFamily="34" charset="-122"/>
                <a:cs typeface="FedEx Sans" pitchFamily="34" charset="-120"/>
              </a:rPr>
              <a:t>~40 hrs</a:t>
            </a:r>
            <a:endParaRPr lang="en-US" sz="2600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F0CD6714-0CD2-BB58-80F9-2C4BC31054F2}"/>
              </a:ext>
            </a:extLst>
          </p:cNvPr>
          <p:cNvSpPr/>
          <p:nvPr/>
        </p:nvSpPr>
        <p:spPr>
          <a:xfrm>
            <a:off x="440436" y="6010497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CDL path completes the same 3-year backfill roughly </a:t>
            </a:r>
            <a:r>
              <a:rPr lang="en-US" sz="1100" b="1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 faster </a:t>
            </a:r>
            <a:r>
              <a:rPr lang="en-US" sz="11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the legacy ADF / Ab Initio route.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170</Words>
  <Application>Microsoft Office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FedEx Sans</vt:lpstr>
      <vt:lpstr>Office Theme</vt:lpstr>
      <vt:lpstr>PowerPoint Presentation</vt:lpstr>
    </vt:vector>
  </TitlesOfParts>
  <Company>FedEx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Jaiswal</dc:creator>
  <cp:lastModifiedBy>Shubham Jaiswal</cp:lastModifiedBy>
  <cp:revision>1</cp:revision>
  <dcterms:created xsi:type="dcterms:W3CDTF">2026-08-06T06:08:41Z</dcterms:created>
  <dcterms:modified xsi:type="dcterms:W3CDTF">2026-08-06T06:23:53Z</dcterms:modified>
</cp:coreProperties>
</file>